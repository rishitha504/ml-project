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6" r:id="rId6"/>
    <p:sldId id="261" r:id="rId7"/>
    <p:sldId id="262" r:id="rId8"/>
    <p:sldId id="264" r:id="rId9"/>
    <p:sldId id="263" r:id="rId10"/>
    <p:sldId id="265" r:id="rId11"/>
  </p:sldIdLst>
  <p:sldSz cx="18288000" cy="10287000"/>
  <p:notesSz cx="6858000" cy="9144000"/>
  <p:embeddedFontLst>
    <p:embeddedFont>
      <p:font typeface="Inter" panose="020B0604020202020204" charset="0"/>
      <p:regular r:id="rId13"/>
    </p:embeddedFont>
    <p:embeddedFont>
      <p:font typeface="Inter Bold" panose="020B0604020202020204" charset="0"/>
      <p:regular r:id="rId14"/>
    </p:embeddedFont>
    <p:embeddedFont>
      <p:font typeface="Petrona Bold"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0" d="100"/>
          <a:sy n="60" d="100"/>
        </p:scale>
        <p:origin x="37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24.09.2026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FF6D1-205C-BF69-80A2-C4461C67557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30E7265-92A3-8F7A-E9F0-6A065DA5685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2D43C9A-1590-9BFF-3706-1BC61CC427D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91B51D0-721D-EE5C-746B-75B9DAE65BC9}"/>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50D4A9F-92AF-F240-3F05-BF0DDB73DF7B}"/>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a:extLst>
              <a:ext uri="{FF2B5EF4-FFF2-40B4-BE49-F238E27FC236}">
                <a16:creationId xmlns:a16="http://schemas.microsoft.com/office/drawing/2014/main" id="{2EC03654-A6EC-EE3E-4882-85D9A3E0089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A1A6B3CB-FE3E-4111-B466-BB00FFA28C3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44590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3.jpe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2.svg"/><Relationship Id="rId4" Type="http://schemas.openxmlformats.org/officeDocument/2006/relationships/image" Target="../media/image11.jpeg"/></Relationships>
</file>

<file path=ppt/slides/_rels/slide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hyperlink" Target="file:///C:\Users\thanv\Downloads\shaheen2018.pdf" TargetMode="External"/><Relationship Id="rId4" Type="http://schemas.openxmlformats.org/officeDocument/2006/relationships/hyperlink" Target="file:///C:\Users\thanv\Downloads\qiu2019.pdf"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grpSp>
        <p:nvGrpSpPr>
          <p:cNvPr id="6" name="Group 6"/>
          <p:cNvGrpSpPr/>
          <p:nvPr/>
        </p:nvGrpSpPr>
        <p:grpSpPr>
          <a:xfrm>
            <a:off x="16628307" y="9846183"/>
            <a:ext cx="1609020" cy="384353"/>
            <a:chOff x="0" y="0"/>
            <a:chExt cx="2145360" cy="512470"/>
          </a:xfrm>
        </p:grpSpPr>
        <p:sp>
          <p:nvSpPr>
            <p:cNvPr id="7" name="Freeform 7" descr="preencoded.png">
              <a:hlinkClick r:id="rId3" tooltip="https://gamma.app/?utm_source=made-with-gamma"/>
            </p:cNvPr>
            <p:cNvSpPr/>
            <p:nvPr/>
          </p:nvSpPr>
          <p:spPr>
            <a:xfrm>
              <a:off x="0" y="0"/>
              <a:ext cx="2145411" cy="512445"/>
            </a:xfrm>
            <a:custGeom>
              <a:avLst/>
              <a:gdLst/>
              <a:ahLst/>
              <a:cxnLst/>
              <a:rect l="l" t="t" r="r" b="b"/>
              <a:pathLst>
                <a:path w="2145411" h="512445">
                  <a:moveTo>
                    <a:pt x="0" y="0"/>
                  </a:moveTo>
                  <a:lnTo>
                    <a:pt x="2145411" y="0"/>
                  </a:lnTo>
                  <a:lnTo>
                    <a:pt x="2145411" y="512445"/>
                  </a:lnTo>
                  <a:lnTo>
                    <a:pt x="0" y="512445"/>
                  </a:lnTo>
                  <a:lnTo>
                    <a:pt x="0" y="0"/>
                  </a:lnTo>
                  <a:close/>
                </a:path>
              </a:pathLst>
            </a:custGeom>
            <a:blipFill>
              <a:blip r:embed="rId4"/>
              <a:stretch>
                <a:fillRect r="2" b="-4"/>
              </a:stretch>
            </a:blipFill>
          </p:spPr>
          <p:txBody>
            <a:bodyPr/>
            <a:lstStyle/>
            <a:p>
              <a:endParaRPr lang="en-US"/>
            </a:p>
          </p:txBody>
        </p:sp>
      </p:grpSp>
      <p:grpSp>
        <p:nvGrpSpPr>
          <p:cNvPr id="8" name="Group 8"/>
          <p:cNvGrpSpPr/>
          <p:nvPr/>
        </p:nvGrpSpPr>
        <p:grpSpPr>
          <a:xfrm>
            <a:off x="11438649" y="0"/>
            <a:ext cx="6863191" cy="10295039"/>
            <a:chOff x="0" y="0"/>
            <a:chExt cx="9150922" cy="13726719"/>
          </a:xfrm>
        </p:grpSpPr>
        <p:sp>
          <p:nvSpPr>
            <p:cNvPr id="9" name="Freeform 9"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5"/>
              <a:stretch>
                <a:fillRect l="-1" r="-1"/>
              </a:stretch>
            </a:blipFill>
          </p:spPr>
          <p:txBody>
            <a:bodyPr/>
            <a:lstStyle/>
            <a:p>
              <a:endParaRPr lang="en-US"/>
            </a:p>
          </p:txBody>
        </p:sp>
      </p:grpSp>
      <p:sp>
        <p:nvSpPr>
          <p:cNvPr id="10" name="TextBox 10"/>
          <p:cNvSpPr txBox="1"/>
          <p:nvPr/>
        </p:nvSpPr>
        <p:spPr>
          <a:xfrm>
            <a:off x="992991" y="2056495"/>
            <a:ext cx="9452677" cy="2954436"/>
          </a:xfrm>
          <a:prstGeom prst="rect">
            <a:avLst/>
          </a:prstGeom>
        </p:spPr>
        <p:txBody>
          <a:bodyPr lIns="0" tIns="0" rIns="0" bIns="0" rtlCol="0" anchor="t">
            <a:spAutoFit/>
          </a:bodyPr>
          <a:lstStyle/>
          <a:p>
            <a:pPr algn="ctr">
              <a:lnSpc>
                <a:spcPts val="7587"/>
              </a:lnSpc>
            </a:pPr>
            <a:r>
              <a:rPr lang="en-US" sz="6079" b="1" spc="-123" dirty="0">
                <a:solidFill>
                  <a:srgbClr val="F95F88"/>
                </a:solidFill>
                <a:latin typeface="Petrona Bold"/>
                <a:ea typeface="Petrona Bold"/>
                <a:cs typeface="Petrona Bold"/>
                <a:sym typeface="Petrona Bold"/>
              </a:rPr>
              <a:t>Loan Default Prediction Using Random Forest and Gradient‑Boosted Trees</a:t>
            </a:r>
          </a:p>
        </p:txBody>
      </p:sp>
      <p:sp>
        <p:nvSpPr>
          <p:cNvPr id="11" name="TextBox 11"/>
          <p:cNvSpPr txBox="1"/>
          <p:nvPr/>
        </p:nvSpPr>
        <p:spPr>
          <a:xfrm>
            <a:off x="992991" y="5360270"/>
            <a:ext cx="9452677" cy="2198743"/>
          </a:xfrm>
          <a:prstGeom prst="rect">
            <a:avLst/>
          </a:prstGeom>
        </p:spPr>
        <p:txBody>
          <a:bodyPr lIns="0" tIns="0" rIns="0" bIns="0" rtlCol="0" anchor="t">
            <a:spAutoFit/>
          </a:bodyPr>
          <a:lstStyle/>
          <a:p>
            <a:pPr algn="ctr">
              <a:lnSpc>
                <a:spcPts val="3474"/>
              </a:lnSpc>
            </a:pPr>
            <a:r>
              <a:rPr lang="en-US" sz="2176" spc="-45" dirty="0">
                <a:solidFill>
                  <a:srgbClr val="272525"/>
                </a:solidFill>
                <a:latin typeface="Inter"/>
                <a:ea typeface="Inter"/>
                <a:cs typeface="Inter"/>
                <a:sym typeface="Inter"/>
              </a:rPr>
              <a:t> </a:t>
            </a:r>
            <a:r>
              <a:rPr lang="en-US" sz="2300" spc="-45" dirty="0">
                <a:solidFill>
                  <a:srgbClr val="272525"/>
                </a:solidFill>
                <a:latin typeface="Inter"/>
                <a:ea typeface="Inter"/>
                <a:cs typeface="Inter"/>
                <a:sym typeface="Inter"/>
              </a:rPr>
              <a:t>course MACHINE LEARNING — BTech (Academic Year 2026‑27)</a:t>
            </a:r>
          </a:p>
          <a:p>
            <a:pPr algn="ctr">
              <a:lnSpc>
                <a:spcPts val="3474"/>
              </a:lnSpc>
            </a:pPr>
            <a:r>
              <a:rPr lang="en-US" sz="2300" b="1" spc="-45" dirty="0">
                <a:solidFill>
                  <a:schemeClr val="accent4">
                    <a:lumMod val="50000"/>
                  </a:schemeClr>
                </a:solidFill>
                <a:latin typeface="Inter Bold"/>
                <a:ea typeface="Inter Bold"/>
                <a:cs typeface="Inter"/>
                <a:sym typeface="Inter Bold"/>
              </a:rPr>
              <a:t>By </a:t>
            </a:r>
            <a:r>
              <a:rPr lang="en-US" sz="2300" spc="-45" dirty="0">
                <a:solidFill>
                  <a:schemeClr val="accent4">
                    <a:lumMod val="50000"/>
                  </a:schemeClr>
                </a:solidFill>
                <a:latin typeface="Inter"/>
                <a:ea typeface="Inter"/>
                <a:cs typeface="Inter"/>
                <a:sym typeface="Inter"/>
              </a:rPr>
              <a:t>Chegireddy Thanvi - Roll: 2520030214</a:t>
            </a:r>
          </a:p>
          <a:p>
            <a:pPr algn="ctr">
              <a:lnSpc>
                <a:spcPts val="3474"/>
              </a:lnSpc>
            </a:pPr>
            <a:r>
              <a:rPr lang="en-US" sz="2300" spc="-45" dirty="0">
                <a:solidFill>
                  <a:schemeClr val="accent4">
                    <a:lumMod val="50000"/>
                  </a:schemeClr>
                </a:solidFill>
                <a:latin typeface="Inter"/>
                <a:ea typeface="Inter"/>
                <a:cs typeface="Inter"/>
                <a:sym typeface="Inter"/>
              </a:rPr>
              <a:t>K Rishitha - Roll: 2520030202</a:t>
            </a:r>
          </a:p>
          <a:p>
            <a:pPr algn="ctr">
              <a:lnSpc>
                <a:spcPts val="3474"/>
              </a:lnSpc>
            </a:pPr>
            <a:r>
              <a:rPr lang="en-US" sz="2300" spc="-45" dirty="0">
                <a:solidFill>
                  <a:srgbClr val="272525"/>
                </a:solidFill>
                <a:latin typeface="Inter"/>
                <a:ea typeface="Inter"/>
                <a:cs typeface="Inter"/>
                <a:sym typeface="Inter"/>
              </a:rPr>
              <a:t>Guide: Shaik Asif </a:t>
            </a:r>
          </a:p>
          <a:p>
            <a:pPr algn="ctr">
              <a:lnSpc>
                <a:spcPts val="3474"/>
              </a:lnSpc>
            </a:pPr>
            <a:r>
              <a:rPr lang="en-US" sz="2300" spc="-45" dirty="0">
                <a:solidFill>
                  <a:srgbClr val="272525"/>
                </a:solidFill>
                <a:latin typeface="Inter"/>
                <a:ea typeface="Inter"/>
                <a:cs typeface="Inter"/>
                <a:sym typeface="Inter"/>
              </a:rPr>
              <a:t>Department : Computer Science &amp; Engineering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grpSp>
        <p:nvGrpSpPr>
          <p:cNvPr id="6" name="Group 6"/>
          <p:cNvGrpSpPr/>
          <p:nvPr/>
        </p:nvGrpSpPr>
        <p:grpSpPr>
          <a:xfrm>
            <a:off x="16628307" y="9846183"/>
            <a:ext cx="1609020" cy="384353"/>
            <a:chOff x="0" y="0"/>
            <a:chExt cx="2145360" cy="512470"/>
          </a:xfrm>
        </p:grpSpPr>
        <p:sp>
          <p:nvSpPr>
            <p:cNvPr id="7" name="Freeform 7" descr="preencoded.png">
              <a:hlinkClick r:id="rId3" tooltip="https://gamma.app/?utm_source=made-with-gamma"/>
            </p:cNvPr>
            <p:cNvSpPr/>
            <p:nvPr/>
          </p:nvSpPr>
          <p:spPr>
            <a:xfrm>
              <a:off x="0" y="0"/>
              <a:ext cx="2145411" cy="512445"/>
            </a:xfrm>
            <a:custGeom>
              <a:avLst/>
              <a:gdLst/>
              <a:ahLst/>
              <a:cxnLst/>
              <a:rect l="l" t="t" r="r" b="b"/>
              <a:pathLst>
                <a:path w="2145411" h="512445">
                  <a:moveTo>
                    <a:pt x="0" y="0"/>
                  </a:moveTo>
                  <a:lnTo>
                    <a:pt x="2145411" y="0"/>
                  </a:lnTo>
                  <a:lnTo>
                    <a:pt x="2145411" y="512445"/>
                  </a:lnTo>
                  <a:lnTo>
                    <a:pt x="0" y="512445"/>
                  </a:lnTo>
                  <a:lnTo>
                    <a:pt x="0" y="0"/>
                  </a:lnTo>
                  <a:close/>
                </a:path>
              </a:pathLst>
            </a:custGeom>
            <a:blipFill>
              <a:blip r:embed="rId4"/>
              <a:stretch>
                <a:fillRect r="2" b="-4"/>
              </a:stretch>
            </a:blipFill>
          </p:spPr>
          <p:txBody>
            <a:bodyPr/>
            <a:lstStyle/>
            <a:p>
              <a:endParaRPr lang="en-US"/>
            </a:p>
          </p:txBody>
        </p:sp>
      </p:grpSp>
      <p:grpSp>
        <p:nvGrpSpPr>
          <p:cNvPr id="8" name="Group 8"/>
          <p:cNvGrpSpPr/>
          <p:nvPr/>
        </p:nvGrpSpPr>
        <p:grpSpPr>
          <a:xfrm>
            <a:off x="11438649" y="0"/>
            <a:ext cx="6863191" cy="10295039"/>
            <a:chOff x="0" y="0"/>
            <a:chExt cx="9150922" cy="13726719"/>
          </a:xfrm>
        </p:grpSpPr>
        <p:sp>
          <p:nvSpPr>
            <p:cNvPr id="9" name="Freeform 9"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5"/>
              <a:stretch>
                <a:fillRect l="-1" r="-1"/>
              </a:stretch>
            </a:blipFill>
          </p:spPr>
          <p:txBody>
            <a:bodyPr/>
            <a:lstStyle/>
            <a:p>
              <a:endParaRPr lang="en-US"/>
            </a:p>
          </p:txBody>
        </p:sp>
      </p:grpSp>
      <p:sp>
        <p:nvSpPr>
          <p:cNvPr id="10" name="TextBox 10"/>
          <p:cNvSpPr txBox="1"/>
          <p:nvPr/>
        </p:nvSpPr>
        <p:spPr>
          <a:xfrm>
            <a:off x="992991" y="3217964"/>
            <a:ext cx="9452677"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Problem Statement</a:t>
            </a:r>
          </a:p>
        </p:txBody>
      </p:sp>
      <p:sp>
        <p:nvSpPr>
          <p:cNvPr id="11" name="TextBox 11"/>
          <p:cNvSpPr txBox="1"/>
          <p:nvPr/>
        </p:nvSpPr>
        <p:spPr>
          <a:xfrm>
            <a:off x="992991" y="5156216"/>
            <a:ext cx="9452677" cy="2477601"/>
          </a:xfrm>
          <a:prstGeom prst="rect">
            <a:avLst/>
          </a:prstGeom>
        </p:spPr>
        <p:txBody>
          <a:bodyPr lIns="0" tIns="0" rIns="0" bIns="0" rtlCol="0" anchor="t">
            <a:spAutoFit/>
          </a:bodyPr>
          <a:lstStyle/>
          <a:p>
            <a:r>
              <a:rPr lang="en-US" sz="2300" dirty="0"/>
              <a:t>Loan default is a major challenge for banks and financial institutions because failure to identify high-risk borrowers can lead to financial losses.</a:t>
            </a:r>
          </a:p>
          <a:p>
            <a:r>
              <a:rPr lang="en-US" sz="2300" dirty="0"/>
              <a:t>The objective of our project is to develop a machine-learning-based loan default prediction system that analyzes borrower and loan-related information and predicts whether a borrower is likely to default or repay the loan.</a:t>
            </a:r>
          </a:p>
          <a:p>
            <a:r>
              <a:rPr lang="en-US" sz="2300" dirty="0"/>
              <a:t>The model will help identify important factors associated with loan default and support more data-driven credit-risk assessment</a:t>
            </a:r>
            <a:endParaRPr lang="en-US" sz="2300" spc="-45" dirty="0">
              <a:solidFill>
                <a:srgbClr val="272525"/>
              </a:solidFill>
              <a:latin typeface="Inter"/>
              <a:ea typeface="Inter"/>
              <a:cs typeface="Inter"/>
              <a:sym typeface="Inte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155629" y="-33439"/>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grpSp>
        <p:nvGrpSpPr>
          <p:cNvPr id="6" name="Group 6"/>
          <p:cNvGrpSpPr/>
          <p:nvPr/>
        </p:nvGrpSpPr>
        <p:grpSpPr>
          <a:xfrm>
            <a:off x="0" y="0"/>
            <a:ext cx="6863191" cy="10295039"/>
            <a:chOff x="0" y="0"/>
            <a:chExt cx="9150922" cy="13726719"/>
          </a:xfrm>
        </p:grpSpPr>
        <p:sp>
          <p:nvSpPr>
            <p:cNvPr id="7" name="Freeform 7" descr="preencoded.png"/>
            <p:cNvSpPr/>
            <p:nvPr/>
          </p:nvSpPr>
          <p:spPr>
            <a:xfrm>
              <a:off x="0" y="0"/>
              <a:ext cx="9150858" cy="13726668"/>
            </a:xfrm>
            <a:custGeom>
              <a:avLst/>
              <a:gdLst/>
              <a:ahLst/>
              <a:cxnLst/>
              <a:rect l="l" t="t" r="r" b="b"/>
              <a:pathLst>
                <a:path w="9150858" h="13726668">
                  <a:moveTo>
                    <a:pt x="0" y="0"/>
                  </a:moveTo>
                  <a:lnTo>
                    <a:pt x="9150858" y="0"/>
                  </a:lnTo>
                  <a:lnTo>
                    <a:pt x="9150858" y="13726668"/>
                  </a:lnTo>
                  <a:lnTo>
                    <a:pt x="0" y="13726668"/>
                  </a:lnTo>
                  <a:lnTo>
                    <a:pt x="0" y="0"/>
                  </a:lnTo>
                  <a:close/>
                </a:path>
              </a:pathLst>
            </a:custGeom>
            <a:blipFill>
              <a:blip r:embed="rId3"/>
              <a:stretch>
                <a:fillRect l="-1" r="-1"/>
              </a:stretch>
            </a:blipFill>
          </p:spPr>
          <p:txBody>
            <a:bodyPr/>
            <a:lstStyle/>
            <a:p>
              <a:endParaRPr lang="en-US"/>
            </a:p>
          </p:txBody>
        </p:sp>
      </p:grpSp>
      <p:grpSp>
        <p:nvGrpSpPr>
          <p:cNvPr id="8" name="Group 8"/>
          <p:cNvGrpSpPr/>
          <p:nvPr/>
        </p:nvGrpSpPr>
        <p:grpSpPr>
          <a:xfrm>
            <a:off x="141789" y="760962"/>
            <a:ext cx="6579460" cy="8772982"/>
            <a:chOff x="0" y="0"/>
            <a:chExt cx="8772614" cy="11697310"/>
          </a:xfrm>
        </p:grpSpPr>
        <p:sp>
          <p:nvSpPr>
            <p:cNvPr id="9" name="Freeform 9" descr="preencoded.png"/>
            <p:cNvSpPr/>
            <p:nvPr/>
          </p:nvSpPr>
          <p:spPr>
            <a:xfrm>
              <a:off x="0" y="0"/>
              <a:ext cx="8772652" cy="11697335"/>
            </a:xfrm>
            <a:custGeom>
              <a:avLst/>
              <a:gdLst/>
              <a:ahLst/>
              <a:cxnLst/>
              <a:rect l="l" t="t" r="r" b="b"/>
              <a:pathLst>
                <a:path w="8772652" h="11697335">
                  <a:moveTo>
                    <a:pt x="0" y="0"/>
                  </a:moveTo>
                  <a:lnTo>
                    <a:pt x="8772652" y="0"/>
                  </a:lnTo>
                  <a:lnTo>
                    <a:pt x="8772652" y="11697335"/>
                  </a:lnTo>
                  <a:lnTo>
                    <a:pt x="0" y="11697335"/>
                  </a:lnTo>
                  <a:lnTo>
                    <a:pt x="0" y="0"/>
                  </a:lnTo>
                  <a:close/>
                </a:path>
              </a:pathLst>
            </a:custGeom>
            <a:blipFill>
              <a:blip r:embed="rId4"/>
              <a:stretch>
                <a:fillRect t="-13" b="-13"/>
              </a:stretch>
            </a:blipFill>
          </p:spPr>
          <p:txBody>
            <a:bodyPr/>
            <a:lstStyle/>
            <a:p>
              <a:endParaRPr lang="en-US"/>
            </a:p>
          </p:txBody>
        </p:sp>
      </p:grpSp>
      <p:sp>
        <p:nvSpPr>
          <p:cNvPr id="10" name="TextBox 10"/>
          <p:cNvSpPr txBox="1"/>
          <p:nvPr/>
        </p:nvSpPr>
        <p:spPr>
          <a:xfrm>
            <a:off x="7856182" y="2473100"/>
            <a:ext cx="9452677"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 Proposed Solution </a:t>
            </a:r>
          </a:p>
        </p:txBody>
      </p:sp>
      <p:sp>
        <p:nvSpPr>
          <p:cNvPr id="11" name="TextBox 11"/>
          <p:cNvSpPr txBox="1"/>
          <p:nvPr/>
        </p:nvSpPr>
        <p:spPr>
          <a:xfrm>
            <a:off x="7856182" y="3631178"/>
            <a:ext cx="9452677" cy="4466031"/>
          </a:xfrm>
          <a:prstGeom prst="rect">
            <a:avLst/>
          </a:prstGeom>
        </p:spPr>
        <p:txBody>
          <a:bodyPr lIns="0" tIns="0" rIns="0" bIns="0" rtlCol="0" anchor="t">
            <a:spAutoFit/>
          </a:bodyPr>
          <a:lstStyle/>
          <a:p>
            <a:r>
              <a:rPr lang="en-US" sz="2400" dirty="0"/>
              <a:t>We propose a machine-learning-based system that uses historical borrower and loan data to predict the possibility of loan default. The system analyses factors such as income, credit score, loan amount, employment status, interest rate, and debt-to-income ratio to identify patterns related to loan repayment.</a:t>
            </a:r>
          </a:p>
          <a:p>
            <a:r>
              <a:rPr lang="en-US" sz="2400" dirty="0"/>
              <a:t>We use </a:t>
            </a:r>
            <a:r>
              <a:rPr lang="en-US" sz="2400" b="1" dirty="0"/>
              <a:t>Random Forest</a:t>
            </a:r>
            <a:r>
              <a:rPr lang="en-US" sz="2400" dirty="0"/>
              <a:t> and </a:t>
            </a:r>
            <a:r>
              <a:rPr lang="en-US" sz="2400" b="1" dirty="0"/>
              <a:t>Gradient-Boosted Trees</a:t>
            </a:r>
            <a:r>
              <a:rPr lang="en-US" sz="2400" dirty="0"/>
              <a:t> to classify borrowers into two categories: </a:t>
            </a:r>
            <a:r>
              <a:rPr lang="en-US" sz="2400" b="1" dirty="0"/>
              <a:t>likely to default</a:t>
            </a:r>
            <a:r>
              <a:rPr lang="en-US" sz="2400" dirty="0"/>
              <a:t> or </a:t>
            </a:r>
            <a:r>
              <a:rPr lang="en-US" sz="2400" b="1" dirty="0"/>
              <a:t>likely to repay</a:t>
            </a:r>
            <a:r>
              <a:rPr lang="en-US" sz="2400" dirty="0"/>
              <a:t>. The performance of both models is evaluated and compared using suitable evaluation metrics.</a:t>
            </a:r>
          </a:p>
          <a:p>
            <a:r>
              <a:rPr lang="en-US" sz="2400" dirty="0"/>
              <a:t>The proposed system can help financial institutions identify high-risk borrowers at an early stage, improve credit-risk assessment, make more informed lending decisions, and reduce potential financial losses.</a:t>
            </a:r>
          </a:p>
          <a:p>
            <a:pPr algn="l">
              <a:lnSpc>
                <a:spcPts val="3474"/>
              </a:lnSpc>
            </a:pPr>
            <a:endParaRPr lang="en-US" sz="2176" spc="-45" dirty="0">
              <a:solidFill>
                <a:srgbClr val="272525"/>
              </a:solidFill>
              <a:latin typeface="Inter"/>
              <a:ea typeface="Inter"/>
              <a:cs typeface="Inter"/>
              <a:sym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grpSp>
        <p:nvGrpSpPr>
          <p:cNvPr id="6" name="Group 6"/>
          <p:cNvGrpSpPr/>
          <p:nvPr/>
        </p:nvGrpSpPr>
        <p:grpSpPr>
          <a:xfrm>
            <a:off x="992991" y="3416046"/>
            <a:ext cx="6110888" cy="3462814"/>
            <a:chOff x="0" y="0"/>
            <a:chExt cx="8147850" cy="4617085"/>
          </a:xfrm>
        </p:grpSpPr>
        <p:sp>
          <p:nvSpPr>
            <p:cNvPr id="7" name="Freeform 7" descr="preencoded.png"/>
            <p:cNvSpPr/>
            <p:nvPr/>
          </p:nvSpPr>
          <p:spPr>
            <a:xfrm>
              <a:off x="0" y="0"/>
              <a:ext cx="8147812" cy="4617085"/>
            </a:xfrm>
            <a:custGeom>
              <a:avLst/>
              <a:gdLst/>
              <a:ahLst/>
              <a:cxnLst/>
              <a:rect l="l" t="t" r="r" b="b"/>
              <a:pathLst>
                <a:path w="8147812" h="4617085">
                  <a:moveTo>
                    <a:pt x="0" y="0"/>
                  </a:moveTo>
                  <a:lnTo>
                    <a:pt x="8147812" y="0"/>
                  </a:lnTo>
                  <a:lnTo>
                    <a:pt x="8147812" y="4617085"/>
                  </a:lnTo>
                  <a:lnTo>
                    <a:pt x="0" y="4617085"/>
                  </a:lnTo>
                  <a:lnTo>
                    <a:pt x="0" y="0"/>
                  </a:lnTo>
                  <a:close/>
                </a:path>
              </a:pathLst>
            </a:custGeom>
            <a:blipFill>
              <a:blip r:embed="rId3"/>
              <a:stretch>
                <a:fillRect t="-27" b="-27"/>
              </a:stretch>
            </a:blipFill>
          </p:spPr>
          <p:txBody>
            <a:bodyPr/>
            <a:lstStyle/>
            <a:p>
              <a:endParaRPr lang="en-US"/>
            </a:p>
          </p:txBody>
        </p:sp>
      </p:grpSp>
      <p:sp>
        <p:nvSpPr>
          <p:cNvPr id="8" name="TextBox 8"/>
          <p:cNvSpPr txBox="1"/>
          <p:nvPr/>
        </p:nvSpPr>
        <p:spPr>
          <a:xfrm>
            <a:off x="7805690" y="1756972"/>
            <a:ext cx="9512551"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Objectives</a:t>
            </a:r>
          </a:p>
        </p:txBody>
      </p:sp>
      <p:sp>
        <p:nvSpPr>
          <p:cNvPr id="9" name="TextBox 9"/>
          <p:cNvSpPr txBox="1"/>
          <p:nvPr/>
        </p:nvSpPr>
        <p:spPr>
          <a:xfrm>
            <a:off x="7805690" y="2848861"/>
            <a:ext cx="9512551" cy="5820248"/>
          </a:xfrm>
          <a:prstGeom prst="rect">
            <a:avLst/>
          </a:prstGeom>
        </p:spPr>
        <p:txBody>
          <a:bodyPr lIns="0" tIns="0" rIns="0" bIns="0" rtlCol="0" anchor="t">
            <a:spAutoFit/>
          </a:bodyPr>
          <a:lstStyle/>
          <a:p>
            <a:pPr marL="457200" lvl="0" indent="-457200">
              <a:buFont typeface="Arial" panose="020B0604020202020204" pitchFamily="34" charset="0"/>
              <a:buChar char="•"/>
            </a:pPr>
            <a:r>
              <a:rPr lang="en-US" sz="3200" b="1" dirty="0"/>
              <a:t>To predict</a:t>
            </a:r>
            <a:r>
              <a:rPr lang="en-US" sz="3200" dirty="0"/>
              <a:t> whether a person will repay a loan or default. </a:t>
            </a:r>
          </a:p>
          <a:p>
            <a:pPr marL="457200" lvl="0" indent="-457200">
              <a:buFont typeface="Arial" panose="020B0604020202020204" pitchFamily="34" charset="0"/>
              <a:buChar char="•"/>
            </a:pPr>
            <a:r>
              <a:rPr lang="en-US" sz="3200" b="1" dirty="0"/>
              <a:t>To study borrower details</a:t>
            </a:r>
            <a:r>
              <a:rPr lang="en-US" sz="3200" dirty="0"/>
              <a:t> like income, credit score, loan amount, and employment. </a:t>
            </a:r>
          </a:p>
          <a:p>
            <a:pPr marL="457200" lvl="0" indent="-457200">
              <a:buFont typeface="Arial" panose="020B0604020202020204" pitchFamily="34" charset="0"/>
              <a:buChar char="•"/>
            </a:pPr>
            <a:r>
              <a:rPr lang="en-US" sz="3200" b="1" dirty="0"/>
              <a:t>To use Random Forest</a:t>
            </a:r>
            <a:r>
              <a:rPr lang="en-US" sz="3200" dirty="0"/>
              <a:t> to predict loan defaults. </a:t>
            </a:r>
          </a:p>
          <a:p>
            <a:pPr marL="457200" lvl="0" indent="-457200">
              <a:buFont typeface="Arial" panose="020B0604020202020204" pitchFamily="34" charset="0"/>
              <a:buChar char="•"/>
            </a:pPr>
            <a:r>
              <a:rPr lang="en-US" sz="3200" b="1" dirty="0"/>
              <a:t>To use Gradient-Boosted Trees</a:t>
            </a:r>
            <a:r>
              <a:rPr lang="en-US" sz="3200" dirty="0"/>
              <a:t> to make another prediction. </a:t>
            </a:r>
          </a:p>
          <a:p>
            <a:pPr marL="457200" lvl="0" indent="-457200">
              <a:buFont typeface="Arial" panose="020B0604020202020204" pitchFamily="34" charset="0"/>
              <a:buChar char="•"/>
            </a:pPr>
            <a:r>
              <a:rPr lang="en-US" sz="3200" b="1" dirty="0"/>
              <a:t>To compare both models</a:t>
            </a:r>
            <a:r>
              <a:rPr lang="en-US" sz="3200" dirty="0"/>
              <a:t> and find which one gives better results. </a:t>
            </a:r>
          </a:p>
          <a:p>
            <a:pPr marL="457200" lvl="0" indent="-457200">
              <a:buFont typeface="Arial" panose="020B0604020202020204" pitchFamily="34" charset="0"/>
              <a:buChar char="•"/>
            </a:pPr>
            <a:r>
              <a:rPr lang="en-US" sz="3200" b="1" dirty="0"/>
              <a:t>To help banks identify risky borrowers</a:t>
            </a:r>
            <a:r>
              <a:rPr lang="en-US" sz="3200" dirty="0"/>
              <a:t> and make better loan decisions.</a:t>
            </a:r>
          </a:p>
          <a:p>
            <a:pPr marL="394236" lvl="1" indent="-197118" algn="l">
              <a:lnSpc>
                <a:spcPts val="3474"/>
              </a:lnSpc>
              <a:buFont typeface="Arial"/>
              <a:buChar char="•"/>
            </a:pPr>
            <a:endParaRPr lang="en-US" sz="2176" spc="-45" dirty="0">
              <a:solidFill>
                <a:srgbClr val="272525"/>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DD592-C94C-E97F-FE50-66C601E5B27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0334218-3334-F47B-3395-F1D25F049472}"/>
              </a:ext>
            </a:extLst>
          </p:cNvPr>
          <p:cNvGrpSpPr/>
          <p:nvPr/>
        </p:nvGrpSpPr>
        <p:grpSpPr>
          <a:xfrm>
            <a:off x="0" y="0"/>
            <a:ext cx="18301840" cy="10295039"/>
            <a:chOff x="0" y="0"/>
            <a:chExt cx="24402453" cy="13726719"/>
          </a:xfrm>
        </p:grpSpPr>
        <p:sp>
          <p:nvSpPr>
            <p:cNvPr id="3" name="Freeform 3">
              <a:extLst>
                <a:ext uri="{FF2B5EF4-FFF2-40B4-BE49-F238E27FC236}">
                  <a16:creationId xmlns:a16="http://schemas.microsoft.com/office/drawing/2014/main" id="{1DA872CF-E2FC-7149-9F7E-89DF739625BD}"/>
                </a:ext>
              </a:extLst>
            </p:cNvPr>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a:extLst>
              <a:ext uri="{FF2B5EF4-FFF2-40B4-BE49-F238E27FC236}">
                <a16:creationId xmlns:a16="http://schemas.microsoft.com/office/drawing/2014/main" id="{EF0B847A-4F13-D235-4572-D061B3C580DA}"/>
              </a:ext>
            </a:extLst>
          </p:cNvPr>
          <p:cNvGrpSpPr/>
          <p:nvPr/>
        </p:nvGrpSpPr>
        <p:grpSpPr>
          <a:xfrm>
            <a:off x="0" y="0"/>
            <a:ext cx="18301840" cy="10295039"/>
            <a:chOff x="0" y="0"/>
            <a:chExt cx="24402453" cy="13726719"/>
          </a:xfrm>
        </p:grpSpPr>
        <p:sp>
          <p:nvSpPr>
            <p:cNvPr id="5" name="Freeform 5">
              <a:extLst>
                <a:ext uri="{FF2B5EF4-FFF2-40B4-BE49-F238E27FC236}">
                  <a16:creationId xmlns:a16="http://schemas.microsoft.com/office/drawing/2014/main" id="{7198FAF6-45A5-8FA3-30C8-09E3651AC62A}"/>
                </a:ext>
              </a:extLst>
            </p:cNvPr>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grpSp>
        <p:nvGrpSpPr>
          <p:cNvPr id="6" name="Group 6">
            <a:extLst>
              <a:ext uri="{FF2B5EF4-FFF2-40B4-BE49-F238E27FC236}">
                <a16:creationId xmlns:a16="http://schemas.microsoft.com/office/drawing/2014/main" id="{CAC607C1-729F-6114-B836-3B1A89AADB79}"/>
              </a:ext>
            </a:extLst>
          </p:cNvPr>
          <p:cNvGrpSpPr/>
          <p:nvPr/>
        </p:nvGrpSpPr>
        <p:grpSpPr>
          <a:xfrm>
            <a:off x="992991" y="3416046"/>
            <a:ext cx="6110888" cy="3462814"/>
            <a:chOff x="0" y="0"/>
            <a:chExt cx="8147850" cy="4617085"/>
          </a:xfrm>
        </p:grpSpPr>
        <p:sp>
          <p:nvSpPr>
            <p:cNvPr id="7" name="Freeform 7" descr="preencoded.png">
              <a:extLst>
                <a:ext uri="{FF2B5EF4-FFF2-40B4-BE49-F238E27FC236}">
                  <a16:creationId xmlns:a16="http://schemas.microsoft.com/office/drawing/2014/main" id="{D70022D1-7DC5-DAC0-5B68-EEEBB4E7B686}"/>
                </a:ext>
              </a:extLst>
            </p:cNvPr>
            <p:cNvSpPr/>
            <p:nvPr/>
          </p:nvSpPr>
          <p:spPr>
            <a:xfrm>
              <a:off x="0" y="0"/>
              <a:ext cx="8147812" cy="4617085"/>
            </a:xfrm>
            <a:custGeom>
              <a:avLst/>
              <a:gdLst/>
              <a:ahLst/>
              <a:cxnLst/>
              <a:rect l="l" t="t" r="r" b="b"/>
              <a:pathLst>
                <a:path w="8147812" h="4617085">
                  <a:moveTo>
                    <a:pt x="0" y="0"/>
                  </a:moveTo>
                  <a:lnTo>
                    <a:pt x="8147812" y="0"/>
                  </a:lnTo>
                  <a:lnTo>
                    <a:pt x="8147812" y="4617085"/>
                  </a:lnTo>
                  <a:lnTo>
                    <a:pt x="0" y="4617085"/>
                  </a:lnTo>
                  <a:lnTo>
                    <a:pt x="0" y="0"/>
                  </a:lnTo>
                  <a:close/>
                </a:path>
              </a:pathLst>
            </a:custGeom>
            <a:blipFill>
              <a:blip r:embed="rId3"/>
              <a:stretch>
                <a:fillRect t="-27" b="-27"/>
              </a:stretch>
            </a:blipFill>
          </p:spPr>
          <p:txBody>
            <a:bodyPr/>
            <a:lstStyle/>
            <a:p>
              <a:endParaRPr lang="en-US"/>
            </a:p>
          </p:txBody>
        </p:sp>
      </p:grpSp>
      <p:sp>
        <p:nvSpPr>
          <p:cNvPr id="8" name="TextBox 8">
            <a:extLst>
              <a:ext uri="{FF2B5EF4-FFF2-40B4-BE49-F238E27FC236}">
                <a16:creationId xmlns:a16="http://schemas.microsoft.com/office/drawing/2014/main" id="{FAE47377-7C78-C95E-0DE8-314C2BDA121B}"/>
              </a:ext>
            </a:extLst>
          </p:cNvPr>
          <p:cNvSpPr txBox="1"/>
          <p:nvPr/>
        </p:nvSpPr>
        <p:spPr>
          <a:xfrm>
            <a:off x="7805690" y="1756972"/>
            <a:ext cx="9512551"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Dataset Overview</a:t>
            </a:r>
          </a:p>
        </p:txBody>
      </p:sp>
      <p:sp>
        <p:nvSpPr>
          <p:cNvPr id="9" name="TextBox 9">
            <a:extLst>
              <a:ext uri="{FF2B5EF4-FFF2-40B4-BE49-F238E27FC236}">
                <a16:creationId xmlns:a16="http://schemas.microsoft.com/office/drawing/2014/main" id="{510B7CBE-C014-C278-271C-F693A7D47770}"/>
              </a:ext>
            </a:extLst>
          </p:cNvPr>
          <p:cNvSpPr txBox="1"/>
          <p:nvPr/>
        </p:nvSpPr>
        <p:spPr>
          <a:xfrm>
            <a:off x="7805690" y="2848861"/>
            <a:ext cx="9512551" cy="6866688"/>
          </a:xfrm>
          <a:prstGeom prst="rect">
            <a:avLst/>
          </a:prstGeom>
        </p:spPr>
        <p:txBody>
          <a:bodyPr lIns="0" tIns="0" rIns="0" bIns="0" rtlCol="0" anchor="t">
            <a:spAutoFit/>
          </a:bodyPr>
          <a:lstStyle/>
          <a:p>
            <a:endParaRPr lang="en-US" sz="2800" b="1" dirty="0"/>
          </a:p>
          <a:p>
            <a:pPr lvl="0"/>
            <a:r>
              <a:rPr lang="en-US" sz="2800" b="1" dirty="0"/>
              <a:t>Dataset:</a:t>
            </a:r>
            <a:r>
              <a:rPr lang="en-US" sz="2800" dirty="0"/>
              <a:t> Loan Default Prediction Dataset</a:t>
            </a:r>
          </a:p>
          <a:p>
            <a:pPr lvl="0"/>
            <a:r>
              <a:rPr lang="en-US" sz="2800" b="1" dirty="0"/>
              <a:t>Source:</a:t>
            </a:r>
            <a:r>
              <a:rPr lang="en-US" sz="2800" dirty="0"/>
              <a:t> Kaggle</a:t>
            </a:r>
          </a:p>
          <a:p>
            <a:pPr lvl="0"/>
            <a:r>
              <a:rPr lang="en-US" sz="2800" b="1" dirty="0"/>
              <a:t>Records:</a:t>
            </a:r>
            <a:r>
              <a:rPr lang="en-US" sz="2800" dirty="0"/>
              <a:t> 255,347</a:t>
            </a:r>
          </a:p>
          <a:p>
            <a:pPr lvl="0"/>
            <a:r>
              <a:rPr lang="en-US" sz="2800" b="1" dirty="0"/>
              <a:t>Features:</a:t>
            </a:r>
            <a:r>
              <a:rPr lang="en-US" sz="2800" dirty="0"/>
              <a:t> 18 columns</a:t>
            </a:r>
          </a:p>
          <a:p>
            <a:pPr lvl="0"/>
            <a:r>
              <a:rPr lang="en-US" sz="2800" b="1" dirty="0"/>
              <a:t>Target:</a:t>
            </a:r>
            <a:r>
              <a:rPr lang="en-US" sz="2800" dirty="0"/>
              <a:t> Default</a:t>
            </a:r>
          </a:p>
          <a:p>
            <a:pPr lvl="0"/>
            <a:r>
              <a:rPr lang="en-US" sz="2800" b="1" dirty="0"/>
              <a:t>0:</a:t>
            </a:r>
            <a:r>
              <a:rPr lang="en-US" sz="2800" dirty="0"/>
              <a:t> No Default</a:t>
            </a:r>
          </a:p>
          <a:p>
            <a:pPr lvl="0"/>
            <a:r>
              <a:rPr lang="en-US" sz="2800" b="1" dirty="0"/>
              <a:t>1:</a:t>
            </a:r>
            <a:r>
              <a:rPr lang="en-US" sz="2800" dirty="0"/>
              <a:t> Default</a:t>
            </a:r>
          </a:p>
          <a:p>
            <a:pPr lvl="0"/>
            <a:r>
              <a:rPr lang="en-US" sz="2800" dirty="0"/>
              <a:t>Contains </a:t>
            </a:r>
            <a:r>
              <a:rPr lang="en-US" sz="2800" b="1" dirty="0"/>
              <a:t>borrower and loan-related information</a:t>
            </a:r>
            <a:endParaRPr lang="en-US" sz="2800" dirty="0"/>
          </a:p>
          <a:p>
            <a:pPr lvl="0"/>
            <a:r>
              <a:rPr lang="en-US" sz="2800" dirty="0"/>
              <a:t>Includes details like </a:t>
            </a:r>
            <a:r>
              <a:rPr lang="en-US" sz="2800" b="1" dirty="0"/>
              <a:t>income, credit score, loan amount, interest rate, employment, and DTI ratio</a:t>
            </a:r>
            <a:endParaRPr lang="en-US" sz="2800" dirty="0"/>
          </a:p>
          <a:p>
            <a:pPr lvl="0"/>
            <a:r>
              <a:rPr lang="en-US" sz="2800" dirty="0"/>
              <a:t>Used to </a:t>
            </a:r>
            <a:r>
              <a:rPr lang="en-US" sz="2800" b="1" dirty="0"/>
              <a:t>predict loan default using Machine Learning</a:t>
            </a:r>
            <a:endParaRPr lang="en-US" sz="2800" dirty="0"/>
          </a:p>
          <a:p>
            <a:r>
              <a:rPr lang="en-US" sz="2800" b="1" dirty="0"/>
              <a:t>Project Use:</a:t>
            </a:r>
            <a:br>
              <a:rPr lang="en-US" sz="2800" dirty="0"/>
            </a:br>
            <a:r>
              <a:rPr lang="en-US" sz="2800" dirty="0"/>
              <a:t>The dataset is used to train and compare </a:t>
            </a:r>
            <a:r>
              <a:rPr lang="en-US" sz="2800" b="1" dirty="0"/>
              <a:t>Random Forest</a:t>
            </a:r>
            <a:r>
              <a:rPr lang="en-US" sz="2800" dirty="0"/>
              <a:t> and </a:t>
            </a:r>
            <a:r>
              <a:rPr lang="en-US" sz="2800" b="1" dirty="0"/>
              <a:t>Gradient-Boosted Trees</a:t>
            </a:r>
            <a:r>
              <a:rPr lang="en-US" sz="2800" dirty="0"/>
              <a:t> models.</a:t>
            </a:r>
          </a:p>
          <a:p>
            <a:pPr marL="394236" lvl="1" indent="-197118" algn="l">
              <a:lnSpc>
                <a:spcPts val="3474"/>
              </a:lnSpc>
              <a:buFont typeface="Arial"/>
              <a:buChar char="•"/>
            </a:pPr>
            <a:endParaRPr lang="en-US" sz="2176" spc="-45" dirty="0">
              <a:solidFill>
                <a:srgbClr val="272525"/>
              </a:solidFill>
              <a:latin typeface="Inter"/>
              <a:ea typeface="Inter"/>
              <a:cs typeface="Inter"/>
              <a:sym typeface="Inter"/>
            </a:endParaRPr>
          </a:p>
        </p:txBody>
      </p:sp>
    </p:spTree>
    <p:extLst>
      <p:ext uri="{BB962C8B-B14F-4D97-AF65-F5344CB8AC3E}">
        <p14:creationId xmlns:p14="http://schemas.microsoft.com/office/powerpoint/2010/main" val="1078221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353277" y="-14763"/>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sp>
        <p:nvSpPr>
          <p:cNvPr id="8" name="TextBox 8"/>
          <p:cNvSpPr txBox="1"/>
          <p:nvPr/>
        </p:nvSpPr>
        <p:spPr>
          <a:xfrm>
            <a:off x="4419600" y="1105348"/>
            <a:ext cx="12898784" cy="729239"/>
          </a:xfrm>
          <a:prstGeom prst="rect">
            <a:avLst/>
          </a:prstGeom>
        </p:spPr>
        <p:txBody>
          <a:bodyPr wrap="square" lIns="0" tIns="0" rIns="0" bIns="0" rtlCol="0" anchor="t">
            <a:spAutoFit/>
          </a:bodyPr>
          <a:lstStyle/>
          <a:p>
            <a:pPr>
              <a:lnSpc>
                <a:spcPts val="5807"/>
              </a:lnSpc>
            </a:pPr>
            <a:r>
              <a:rPr lang="en-US" sz="4653" b="1" spc="-93" dirty="0">
                <a:solidFill>
                  <a:srgbClr val="F95F88"/>
                </a:solidFill>
                <a:latin typeface="Petrona Bold"/>
                <a:ea typeface="Petrona Bold"/>
                <a:cs typeface="Petrona Bold"/>
                <a:sym typeface="Petrona Bold"/>
              </a:rPr>
              <a:t>Exploratory Data Analysis(EDA)</a:t>
            </a:r>
          </a:p>
        </p:txBody>
      </p:sp>
      <p:grpSp>
        <p:nvGrpSpPr>
          <p:cNvPr id="13" name="Group 13"/>
          <p:cNvGrpSpPr/>
          <p:nvPr/>
        </p:nvGrpSpPr>
        <p:grpSpPr>
          <a:xfrm>
            <a:off x="9760687" y="8068770"/>
            <a:ext cx="337947" cy="270339"/>
            <a:chOff x="0" y="0"/>
            <a:chExt cx="450596" cy="360451"/>
          </a:xfrm>
        </p:grpSpPr>
        <p:sp>
          <p:nvSpPr>
            <p:cNvPr id="14" name="Freeform 14" descr="preencoded.png"/>
            <p:cNvSpPr/>
            <p:nvPr/>
          </p:nvSpPr>
          <p:spPr>
            <a:xfrm>
              <a:off x="0" y="0"/>
              <a:ext cx="450596" cy="360426"/>
            </a:xfrm>
            <a:custGeom>
              <a:avLst/>
              <a:gdLst/>
              <a:ahLst/>
              <a:cxnLst/>
              <a:rect l="l" t="t" r="r" b="b"/>
              <a:pathLst>
                <a:path w="450596" h="360426">
                  <a:moveTo>
                    <a:pt x="0" y="0"/>
                  </a:moveTo>
                  <a:lnTo>
                    <a:pt x="450596" y="0"/>
                  </a:lnTo>
                  <a:lnTo>
                    <a:pt x="450596" y="360426"/>
                  </a:lnTo>
                  <a:lnTo>
                    <a:pt x="0" y="360426"/>
                  </a:lnTo>
                  <a:lnTo>
                    <a:pt x="0" y="0"/>
                  </a:lnTo>
                  <a:close/>
                </a:path>
              </a:pathLst>
            </a:custGeom>
            <a:blipFill>
              <a:blip r:embed="rId3"/>
              <a:stretch>
                <a:fillRect t="-352" b="-355"/>
              </a:stretch>
            </a:blipFill>
          </p:spPr>
          <p:txBody>
            <a:bodyPr/>
            <a:lstStyle/>
            <a:p>
              <a:endParaRPr lang="en-US"/>
            </a:p>
          </p:txBody>
        </p:sp>
      </p:grpSp>
      <p:pic>
        <p:nvPicPr>
          <p:cNvPr id="17" name="Picture 16">
            <a:extLst>
              <a:ext uri="{FF2B5EF4-FFF2-40B4-BE49-F238E27FC236}">
                <a16:creationId xmlns:a16="http://schemas.microsoft.com/office/drawing/2014/main" id="{E5393638-DE62-85C8-F3DD-E560B7A05212}"/>
              </a:ext>
            </a:extLst>
          </p:cNvPr>
          <p:cNvPicPr>
            <a:picLocks noChangeAspect="1"/>
          </p:cNvPicPr>
          <p:nvPr/>
        </p:nvPicPr>
        <p:blipFill>
          <a:blip r:embed="rId4"/>
          <a:stretch>
            <a:fillRect/>
          </a:stretch>
        </p:blipFill>
        <p:spPr>
          <a:xfrm>
            <a:off x="524317" y="2294366"/>
            <a:ext cx="8626588" cy="6911939"/>
          </a:xfrm>
          <a:prstGeom prst="rect">
            <a:avLst/>
          </a:prstGeom>
        </p:spPr>
      </p:pic>
      <p:pic>
        <p:nvPicPr>
          <p:cNvPr id="19" name="Picture 18">
            <a:extLst>
              <a:ext uri="{FF2B5EF4-FFF2-40B4-BE49-F238E27FC236}">
                <a16:creationId xmlns:a16="http://schemas.microsoft.com/office/drawing/2014/main" id="{9114C58C-F61B-B327-6D1C-7CF371216AF1}"/>
              </a:ext>
            </a:extLst>
          </p:cNvPr>
          <p:cNvPicPr>
            <a:picLocks noChangeAspect="1"/>
          </p:cNvPicPr>
          <p:nvPr/>
        </p:nvPicPr>
        <p:blipFill>
          <a:blip r:embed="rId5"/>
          <a:stretch>
            <a:fillRect/>
          </a:stretch>
        </p:blipFill>
        <p:spPr>
          <a:xfrm>
            <a:off x="9742758" y="2294366"/>
            <a:ext cx="6904318" cy="69119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8965" y="-35387"/>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sp>
        <p:nvSpPr>
          <p:cNvPr id="12" name="TextBox 12"/>
          <p:cNvSpPr txBox="1"/>
          <p:nvPr/>
        </p:nvSpPr>
        <p:spPr>
          <a:xfrm>
            <a:off x="992991" y="2214382"/>
            <a:ext cx="9452677"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EDA Findings:</a:t>
            </a:r>
          </a:p>
        </p:txBody>
      </p:sp>
      <p:sp>
        <p:nvSpPr>
          <p:cNvPr id="14" name="TextBox 14"/>
          <p:cNvSpPr txBox="1"/>
          <p:nvPr/>
        </p:nvSpPr>
        <p:spPr>
          <a:xfrm>
            <a:off x="992991" y="4221242"/>
            <a:ext cx="9452677" cy="6312690"/>
          </a:xfrm>
          <a:prstGeom prst="rect">
            <a:avLst/>
          </a:prstGeom>
        </p:spPr>
        <p:txBody>
          <a:bodyPr lIns="0" tIns="0" rIns="0" bIns="0" rtlCol="0" anchor="t">
            <a:spAutoFit/>
          </a:bodyPr>
          <a:lstStyle/>
          <a:p>
            <a:pPr marL="285750" lvl="0" indent="-285750">
              <a:buFont typeface="Arial" panose="020B0604020202020204" pitchFamily="34" charset="0"/>
              <a:buChar char="•"/>
            </a:pPr>
            <a:r>
              <a:rPr lang="en-US" sz="2400" dirty="0"/>
              <a:t>The dataset contains </a:t>
            </a:r>
            <a:r>
              <a:rPr lang="en-US" sz="2400" b="1" dirty="0"/>
              <a:t>255,347 loan records and 18 columns</a:t>
            </a:r>
            <a:r>
              <a:rPr lang="en-US" sz="2400" dirty="0"/>
              <a:t>. </a:t>
            </a:r>
          </a:p>
          <a:p>
            <a:pPr marL="285750" lvl="0" indent="-285750">
              <a:buFont typeface="Arial" panose="020B0604020202020204" pitchFamily="34" charset="0"/>
              <a:buChar char="•"/>
            </a:pPr>
            <a:r>
              <a:rPr lang="en-US" sz="2400" dirty="0"/>
              <a:t>There are </a:t>
            </a:r>
            <a:r>
              <a:rPr lang="en-US" sz="2400" b="1" dirty="0"/>
              <a:t>no missing values</a:t>
            </a:r>
            <a:r>
              <a:rPr lang="en-US" sz="2400" dirty="0"/>
              <a:t> in the dataset. </a:t>
            </a:r>
          </a:p>
          <a:p>
            <a:pPr marL="285750" lvl="0" indent="-285750">
              <a:buFont typeface="Arial" panose="020B0604020202020204" pitchFamily="34" charset="0"/>
              <a:buChar char="•"/>
            </a:pPr>
            <a:r>
              <a:rPr lang="en-US" sz="2400" dirty="0"/>
              <a:t>There are </a:t>
            </a:r>
            <a:r>
              <a:rPr lang="en-US" sz="2400" b="1" dirty="0"/>
              <a:t>no duplicate records</a:t>
            </a:r>
            <a:r>
              <a:rPr lang="en-US" sz="2400" dirty="0"/>
              <a:t>. </a:t>
            </a:r>
          </a:p>
          <a:p>
            <a:pPr marL="285750" lvl="0" indent="-285750">
              <a:buFont typeface="Arial" panose="020B0604020202020204" pitchFamily="34" charset="0"/>
              <a:buChar char="•"/>
            </a:pPr>
            <a:r>
              <a:rPr lang="en-US" sz="2400" dirty="0"/>
              <a:t>The dataset contains both </a:t>
            </a:r>
            <a:r>
              <a:rPr lang="en-US" sz="2400" b="1" dirty="0"/>
              <a:t>numerical and categorical features</a:t>
            </a:r>
            <a:r>
              <a:rPr lang="en-US" sz="2400" dirty="0"/>
              <a:t>. </a:t>
            </a:r>
          </a:p>
          <a:p>
            <a:pPr marL="285750" lvl="0" indent="-285750">
              <a:buFont typeface="Arial" panose="020B0604020202020204" pitchFamily="34" charset="0"/>
              <a:buChar char="•"/>
            </a:pPr>
            <a:r>
              <a:rPr lang="en-US" sz="2400" dirty="0"/>
              <a:t>The target variable is </a:t>
            </a:r>
            <a:r>
              <a:rPr lang="en-US" sz="2400" b="1" dirty="0"/>
              <a:t>Default</a:t>
            </a:r>
            <a:r>
              <a:rPr lang="en-US" sz="2400" dirty="0"/>
              <a:t>, where </a:t>
            </a:r>
            <a:r>
              <a:rPr lang="en-US" sz="2400" b="1" dirty="0"/>
              <a:t>0 = No Default</a:t>
            </a:r>
            <a:r>
              <a:rPr lang="en-US" sz="2400" dirty="0"/>
              <a:t> and </a:t>
            </a:r>
            <a:r>
              <a:rPr lang="en-US" sz="2400" b="1" dirty="0"/>
              <a:t>1 = Default</a:t>
            </a:r>
            <a:r>
              <a:rPr lang="en-US" sz="2400" dirty="0"/>
              <a:t>. </a:t>
            </a:r>
          </a:p>
          <a:p>
            <a:pPr marL="285750" lvl="0" indent="-285750">
              <a:buFont typeface="Arial" panose="020B0604020202020204" pitchFamily="34" charset="0"/>
              <a:buChar char="•"/>
            </a:pPr>
            <a:r>
              <a:rPr lang="en-US" sz="2400" b="1" dirty="0"/>
              <a:t>Unemployed borrowers</a:t>
            </a:r>
            <a:r>
              <a:rPr lang="en-US" sz="2400" dirty="0"/>
              <a:t> have the highest default rate (</a:t>
            </a:r>
            <a:r>
              <a:rPr lang="en-US" sz="2400" b="1" dirty="0"/>
              <a:t>13.55%</a:t>
            </a:r>
            <a:r>
              <a:rPr lang="en-US" sz="2400" dirty="0"/>
              <a:t>) among employment types. </a:t>
            </a:r>
          </a:p>
          <a:p>
            <a:pPr marL="285750" lvl="0" indent="-285750">
              <a:buFont typeface="Arial" panose="020B0604020202020204" pitchFamily="34" charset="0"/>
              <a:buChar char="•"/>
            </a:pPr>
            <a:r>
              <a:rPr lang="en-US" sz="2400" b="1" dirty="0"/>
              <a:t>Full-time employees</a:t>
            </a:r>
            <a:r>
              <a:rPr lang="en-US" sz="2400" dirty="0"/>
              <a:t> have the lowest default rate (</a:t>
            </a:r>
            <a:r>
              <a:rPr lang="en-US" sz="2400" b="1" dirty="0"/>
              <a:t>9.46%</a:t>
            </a:r>
            <a:r>
              <a:rPr lang="en-US" sz="2400" dirty="0"/>
              <a:t>). </a:t>
            </a:r>
          </a:p>
          <a:p>
            <a:pPr marL="285750" lvl="0" indent="-285750">
              <a:buFont typeface="Arial" panose="020B0604020202020204" pitchFamily="34" charset="0"/>
              <a:buChar char="•"/>
            </a:pPr>
            <a:r>
              <a:rPr lang="en-US" sz="2400" dirty="0"/>
              <a:t>Default rate is generally </a:t>
            </a:r>
            <a:r>
              <a:rPr lang="en-US" sz="2400" b="1" dirty="0"/>
              <a:t>higher for borrowers with lower credit scores</a:t>
            </a:r>
            <a:r>
              <a:rPr lang="en-US" sz="2400" dirty="0"/>
              <a:t>. </a:t>
            </a:r>
          </a:p>
          <a:p>
            <a:pPr marL="285750" lvl="0" indent="-285750">
              <a:buFont typeface="Arial" panose="020B0604020202020204" pitchFamily="34" charset="0"/>
              <a:buChar char="•"/>
            </a:pPr>
            <a:r>
              <a:rPr lang="en-US" sz="2400" dirty="0"/>
              <a:t>The </a:t>
            </a:r>
            <a:r>
              <a:rPr lang="en-US" sz="2400" b="1" dirty="0"/>
              <a:t>300–499 credit score group</a:t>
            </a:r>
            <a:r>
              <a:rPr lang="en-US" sz="2400" dirty="0"/>
              <a:t> has the highest default rate (</a:t>
            </a:r>
            <a:r>
              <a:rPr lang="en-US" sz="2400" b="1" dirty="0"/>
              <a:t>12.77%</a:t>
            </a:r>
            <a:r>
              <a:rPr lang="en-US" sz="2400" dirty="0"/>
              <a:t>). </a:t>
            </a:r>
          </a:p>
          <a:p>
            <a:pPr marL="285750" lvl="0" indent="-285750">
              <a:buFont typeface="Arial" panose="020B0604020202020204" pitchFamily="34" charset="0"/>
              <a:buChar char="•"/>
            </a:pPr>
            <a:r>
              <a:rPr lang="en-US" sz="2400" dirty="0"/>
              <a:t>The </a:t>
            </a:r>
            <a:r>
              <a:rPr lang="en-US" sz="2400" b="1" dirty="0"/>
              <a:t>800–849 credit score group</a:t>
            </a:r>
            <a:r>
              <a:rPr lang="en-US" sz="2400" dirty="0"/>
              <a:t> has the lowest default rate (</a:t>
            </a:r>
            <a:r>
              <a:rPr lang="en-US" sz="2400" b="1" dirty="0"/>
              <a:t>9.81%</a:t>
            </a:r>
            <a:r>
              <a:rPr lang="en-US" sz="2400" dirty="0"/>
              <a:t>). </a:t>
            </a:r>
          </a:p>
          <a:p>
            <a:pPr marL="285750" lvl="0" indent="-285750">
              <a:buFont typeface="Arial" panose="020B0604020202020204" pitchFamily="34" charset="0"/>
              <a:buChar char="•"/>
            </a:pPr>
            <a:r>
              <a:rPr lang="en-US" sz="2400" dirty="0"/>
              <a:t>Default rates vary across different </a:t>
            </a:r>
            <a:r>
              <a:rPr lang="en-US" sz="2400" b="1" dirty="0"/>
              <a:t>loan purposes</a:t>
            </a:r>
            <a:r>
              <a:rPr lang="en-US" sz="2400" dirty="0"/>
              <a:t>, with </a:t>
            </a:r>
            <a:r>
              <a:rPr lang="en-US" sz="2400" b="1" dirty="0"/>
              <a:t>Business loans</a:t>
            </a:r>
            <a:r>
              <a:rPr lang="en-US" sz="2400" dirty="0"/>
              <a:t> having the highest rate (</a:t>
            </a:r>
            <a:r>
              <a:rPr lang="en-US" sz="2400" b="1" dirty="0"/>
              <a:t>12.33%</a:t>
            </a:r>
            <a:r>
              <a:rPr lang="en-US" sz="2400" dirty="0"/>
              <a:t>) and </a:t>
            </a:r>
            <a:r>
              <a:rPr lang="en-US" sz="2400" b="1" dirty="0"/>
              <a:t>Home loans</a:t>
            </a:r>
            <a:r>
              <a:rPr lang="en-US" sz="2400" dirty="0"/>
              <a:t> the lowest (</a:t>
            </a:r>
            <a:r>
              <a:rPr lang="en-US" sz="2400" b="1" dirty="0"/>
              <a:t>10.23%</a:t>
            </a:r>
            <a:r>
              <a:rPr lang="en-US" sz="2400" dirty="0"/>
              <a:t>). </a:t>
            </a:r>
          </a:p>
          <a:p>
            <a:pPr marL="285750" lvl="0" indent="-285750">
              <a:buFont typeface="Arial" panose="020B0604020202020204" pitchFamily="34" charset="0"/>
              <a:buChar char="•"/>
            </a:pPr>
            <a:r>
              <a:rPr lang="en-US" sz="2400" dirty="0"/>
              <a:t>Numerical features such as </a:t>
            </a:r>
            <a:r>
              <a:rPr lang="en-US" sz="2400" b="1" dirty="0"/>
              <a:t>income, loan amount, credit score, interest rate, and DTI ratio</a:t>
            </a:r>
            <a:r>
              <a:rPr lang="en-US" sz="2400" dirty="0"/>
              <a:t> were </a:t>
            </a:r>
            <a:r>
              <a:rPr lang="en-US" sz="2400" dirty="0" err="1"/>
              <a:t>analysed</a:t>
            </a:r>
            <a:r>
              <a:rPr lang="en-US" sz="2400" dirty="0"/>
              <a:t> to understand their relationship with loan default.</a:t>
            </a:r>
          </a:p>
          <a:p>
            <a:pPr marL="394236" lvl="1" indent="-197118" algn="l">
              <a:lnSpc>
                <a:spcPts val="3474"/>
              </a:lnSpc>
              <a:buFont typeface="Arial"/>
              <a:buChar char="•"/>
            </a:pPr>
            <a:endParaRPr lang="en-US" sz="2176" spc="-45" dirty="0">
              <a:solidFill>
                <a:srgbClr val="272525"/>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0" y="0"/>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sp>
        <p:nvSpPr>
          <p:cNvPr id="6" name="TextBox 6"/>
          <p:cNvSpPr txBox="1"/>
          <p:nvPr/>
        </p:nvSpPr>
        <p:spPr>
          <a:xfrm>
            <a:off x="992991" y="986180"/>
            <a:ext cx="16315868" cy="662483"/>
          </a:xfrm>
          <a:prstGeom prst="rect">
            <a:avLst/>
          </a:prstGeom>
        </p:spPr>
        <p:txBody>
          <a:bodyPr lIns="0" tIns="0" rIns="0" bIns="0" rtlCol="0" anchor="t">
            <a:spAutoFit/>
          </a:bodyPr>
          <a:lstStyle/>
          <a:p>
            <a:pPr algn="l">
              <a:lnSpc>
                <a:spcPts val="4964"/>
              </a:lnSpc>
            </a:pPr>
            <a:r>
              <a:rPr lang="en-US" sz="3978" b="1" spc="-79">
                <a:solidFill>
                  <a:srgbClr val="F95F88"/>
                </a:solidFill>
                <a:latin typeface="Petrona Bold"/>
                <a:ea typeface="Petrona Bold"/>
                <a:cs typeface="Petrona Bold"/>
                <a:sym typeface="Petrona Bold"/>
              </a:rPr>
              <a:t>Modules, Objectives &amp; Expected Outcomes</a:t>
            </a:r>
          </a:p>
        </p:txBody>
      </p:sp>
      <p:sp>
        <p:nvSpPr>
          <p:cNvPr id="7" name="Freeform 7" descr="preencoded.png"/>
          <p:cNvSpPr/>
          <p:nvPr/>
        </p:nvSpPr>
        <p:spPr>
          <a:xfrm>
            <a:off x="992991" y="2023262"/>
            <a:ext cx="3938445" cy="4599556"/>
          </a:xfrm>
          <a:custGeom>
            <a:avLst/>
            <a:gdLst/>
            <a:ahLst/>
            <a:cxnLst/>
            <a:rect l="l" t="t" r="r" b="b"/>
            <a:pathLst>
              <a:path w="3938445" h="4599556">
                <a:moveTo>
                  <a:pt x="0" y="0"/>
                </a:moveTo>
                <a:lnTo>
                  <a:pt x="3938444" y="0"/>
                </a:lnTo>
                <a:lnTo>
                  <a:pt x="3938444"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2" b="-52"/>
            </a:stretch>
          </a:blipFill>
        </p:spPr>
        <p:txBody>
          <a:bodyPr/>
          <a:lstStyle/>
          <a:p>
            <a:endParaRPr lang="en-US"/>
          </a:p>
        </p:txBody>
      </p:sp>
      <p:grpSp>
        <p:nvGrpSpPr>
          <p:cNvPr id="8" name="Group 8"/>
          <p:cNvGrpSpPr/>
          <p:nvPr/>
        </p:nvGrpSpPr>
        <p:grpSpPr>
          <a:xfrm>
            <a:off x="2823839" y="2196189"/>
            <a:ext cx="276587" cy="345700"/>
            <a:chOff x="0" y="0"/>
            <a:chExt cx="368783" cy="460934"/>
          </a:xfrm>
        </p:grpSpPr>
        <p:sp>
          <p:nvSpPr>
            <p:cNvPr id="9" name="Freeform 9"/>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txBody>
            <a:bodyPr/>
            <a:lstStyle/>
            <a:p>
              <a:endParaRPr lang="en-US"/>
            </a:p>
          </p:txBody>
        </p:sp>
        <p:sp>
          <p:nvSpPr>
            <p:cNvPr id="10" name="TextBox 10"/>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1</a:t>
              </a:r>
            </a:p>
          </p:txBody>
        </p:sp>
      </p:grpSp>
      <p:sp>
        <p:nvSpPr>
          <p:cNvPr id="11" name="TextBox 11"/>
          <p:cNvSpPr txBox="1"/>
          <p:nvPr/>
        </p:nvSpPr>
        <p:spPr>
          <a:xfrm>
            <a:off x="1251995" y="2926175"/>
            <a:ext cx="3420428" cy="1207627"/>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1 — Data Acquisition &amp; Exploration</a:t>
            </a:r>
          </a:p>
        </p:txBody>
      </p:sp>
      <p:sp>
        <p:nvSpPr>
          <p:cNvPr id="12" name="TextBox 12"/>
          <p:cNvSpPr txBox="1"/>
          <p:nvPr/>
        </p:nvSpPr>
        <p:spPr>
          <a:xfrm>
            <a:off x="1251995" y="4198487"/>
            <a:ext cx="3420428" cy="2165318"/>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Collect and understand data distributions, missingness, and class balance.</a:t>
            </a:r>
          </a:p>
          <a:p>
            <a:pPr algn="l">
              <a:lnSpc>
                <a:spcPts val="2615"/>
              </a:lnSpc>
            </a:pPr>
            <a:r>
              <a:rPr lang="en-US" sz="1801" spc="-36">
                <a:solidFill>
                  <a:srgbClr val="272525"/>
                </a:solidFill>
                <a:latin typeface="Inter"/>
                <a:ea typeface="Inter"/>
                <a:cs typeface="Inter"/>
                <a:sym typeface="Inter"/>
              </a:rPr>
              <a:t>Outcome: Cleaned dataset and exploratory report with visual summaries.</a:t>
            </a:r>
          </a:p>
        </p:txBody>
      </p:sp>
      <p:sp>
        <p:nvSpPr>
          <p:cNvPr id="13" name="Freeform 13" descr="preencoded.png"/>
          <p:cNvSpPr/>
          <p:nvPr/>
        </p:nvSpPr>
        <p:spPr>
          <a:xfrm>
            <a:off x="5118649" y="2023262"/>
            <a:ext cx="3938588" cy="4599556"/>
          </a:xfrm>
          <a:custGeom>
            <a:avLst/>
            <a:gdLst/>
            <a:ahLst/>
            <a:cxnLst/>
            <a:rect l="l" t="t" r="r" b="b"/>
            <a:pathLst>
              <a:path w="3938588" h="4599556">
                <a:moveTo>
                  <a:pt x="0" y="0"/>
                </a:moveTo>
                <a:lnTo>
                  <a:pt x="3938588" y="0"/>
                </a:lnTo>
                <a:lnTo>
                  <a:pt x="3938588"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4" b="-54"/>
            </a:stretch>
          </a:blipFill>
        </p:spPr>
        <p:txBody>
          <a:bodyPr/>
          <a:lstStyle/>
          <a:p>
            <a:endParaRPr lang="en-US"/>
          </a:p>
        </p:txBody>
      </p:sp>
      <p:grpSp>
        <p:nvGrpSpPr>
          <p:cNvPr id="14" name="Group 14"/>
          <p:cNvGrpSpPr/>
          <p:nvPr/>
        </p:nvGrpSpPr>
        <p:grpSpPr>
          <a:xfrm>
            <a:off x="6949650" y="2196189"/>
            <a:ext cx="276587" cy="345700"/>
            <a:chOff x="0" y="0"/>
            <a:chExt cx="368783" cy="460934"/>
          </a:xfrm>
        </p:grpSpPr>
        <p:sp>
          <p:nvSpPr>
            <p:cNvPr id="15" name="Freeform 15"/>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txBody>
            <a:bodyPr/>
            <a:lstStyle/>
            <a:p>
              <a:endParaRPr lang="en-US"/>
            </a:p>
          </p:txBody>
        </p:sp>
        <p:sp>
          <p:nvSpPr>
            <p:cNvPr id="16" name="TextBox 16"/>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2</a:t>
              </a:r>
            </a:p>
          </p:txBody>
        </p:sp>
      </p:grpSp>
      <p:sp>
        <p:nvSpPr>
          <p:cNvPr id="17" name="TextBox 17"/>
          <p:cNvSpPr txBox="1"/>
          <p:nvPr/>
        </p:nvSpPr>
        <p:spPr>
          <a:xfrm>
            <a:off x="5377653" y="2926175"/>
            <a:ext cx="3420570" cy="1207627"/>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2 — Preprocessing &amp; Feature Engineering</a:t>
            </a:r>
          </a:p>
        </p:txBody>
      </p:sp>
      <p:sp>
        <p:nvSpPr>
          <p:cNvPr id="18" name="TextBox 18"/>
          <p:cNvSpPr txBox="1"/>
          <p:nvPr/>
        </p:nvSpPr>
        <p:spPr>
          <a:xfrm>
            <a:off x="5377653" y="4198487"/>
            <a:ext cx="3420570" cy="2165318"/>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Impute, encode, scale, and create informative features.</a:t>
            </a:r>
          </a:p>
          <a:p>
            <a:pPr algn="l">
              <a:lnSpc>
                <a:spcPts val="2615"/>
              </a:lnSpc>
            </a:pPr>
            <a:r>
              <a:rPr lang="en-US" sz="1801" spc="-36">
                <a:solidFill>
                  <a:srgbClr val="272525"/>
                </a:solidFill>
                <a:latin typeface="Inter"/>
                <a:ea typeface="Inter"/>
                <a:cs typeface="Inter"/>
                <a:sym typeface="Inter"/>
              </a:rPr>
              <a:t>Outcome: Production‑ready feature set and transformation pipeline.</a:t>
            </a:r>
          </a:p>
        </p:txBody>
      </p:sp>
      <p:sp>
        <p:nvSpPr>
          <p:cNvPr id="19" name="Freeform 19" descr="preencoded.png"/>
          <p:cNvSpPr/>
          <p:nvPr/>
        </p:nvSpPr>
        <p:spPr>
          <a:xfrm>
            <a:off x="9244451" y="2023262"/>
            <a:ext cx="3938588" cy="4599556"/>
          </a:xfrm>
          <a:custGeom>
            <a:avLst/>
            <a:gdLst/>
            <a:ahLst/>
            <a:cxnLst/>
            <a:rect l="l" t="t" r="r" b="b"/>
            <a:pathLst>
              <a:path w="3938588" h="4599556">
                <a:moveTo>
                  <a:pt x="0" y="0"/>
                </a:moveTo>
                <a:lnTo>
                  <a:pt x="3938587" y="0"/>
                </a:lnTo>
                <a:lnTo>
                  <a:pt x="3938587"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4" b="-54"/>
            </a:stretch>
          </a:blipFill>
        </p:spPr>
        <p:txBody>
          <a:bodyPr/>
          <a:lstStyle/>
          <a:p>
            <a:endParaRPr lang="en-US"/>
          </a:p>
        </p:txBody>
      </p:sp>
      <p:grpSp>
        <p:nvGrpSpPr>
          <p:cNvPr id="20" name="Group 20"/>
          <p:cNvGrpSpPr/>
          <p:nvPr/>
        </p:nvGrpSpPr>
        <p:grpSpPr>
          <a:xfrm>
            <a:off x="11075460" y="2196189"/>
            <a:ext cx="276587" cy="345700"/>
            <a:chOff x="0" y="0"/>
            <a:chExt cx="368783" cy="460934"/>
          </a:xfrm>
        </p:grpSpPr>
        <p:sp>
          <p:nvSpPr>
            <p:cNvPr id="21" name="Freeform 21"/>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txBody>
            <a:bodyPr/>
            <a:lstStyle/>
            <a:p>
              <a:endParaRPr lang="en-US"/>
            </a:p>
          </p:txBody>
        </p:sp>
        <p:sp>
          <p:nvSpPr>
            <p:cNvPr id="22" name="TextBox 22"/>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3</a:t>
              </a:r>
            </a:p>
          </p:txBody>
        </p:sp>
      </p:grpSp>
      <p:sp>
        <p:nvSpPr>
          <p:cNvPr id="23" name="TextBox 23"/>
          <p:cNvSpPr txBox="1"/>
          <p:nvPr/>
        </p:nvSpPr>
        <p:spPr>
          <a:xfrm>
            <a:off x="9503464" y="2926175"/>
            <a:ext cx="3420570" cy="811435"/>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3 — Model Development</a:t>
            </a:r>
          </a:p>
        </p:txBody>
      </p:sp>
      <p:sp>
        <p:nvSpPr>
          <p:cNvPr id="24" name="TextBox 24"/>
          <p:cNvSpPr txBox="1"/>
          <p:nvPr/>
        </p:nvSpPr>
        <p:spPr>
          <a:xfrm>
            <a:off x="9503464" y="3802294"/>
            <a:ext cx="3420570" cy="2165318"/>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Train Random Forest and Gradient‑Boosted models with hyperparameter tuning.</a:t>
            </a:r>
          </a:p>
          <a:p>
            <a:pPr algn="l">
              <a:lnSpc>
                <a:spcPts val="2615"/>
              </a:lnSpc>
            </a:pPr>
            <a:r>
              <a:rPr lang="en-US" sz="1801" spc="-36">
                <a:solidFill>
                  <a:srgbClr val="272525"/>
                </a:solidFill>
                <a:latin typeface="Inter"/>
                <a:ea typeface="Inter"/>
                <a:cs typeface="Inter"/>
                <a:sym typeface="Inter"/>
              </a:rPr>
              <a:t>Outcome: Trained models with cross‑validated performance metrics.</a:t>
            </a:r>
          </a:p>
        </p:txBody>
      </p:sp>
      <p:sp>
        <p:nvSpPr>
          <p:cNvPr id="25" name="Freeform 25" descr="preencoded.png"/>
          <p:cNvSpPr/>
          <p:nvPr/>
        </p:nvSpPr>
        <p:spPr>
          <a:xfrm>
            <a:off x="13370262" y="2023262"/>
            <a:ext cx="3938588" cy="4599556"/>
          </a:xfrm>
          <a:custGeom>
            <a:avLst/>
            <a:gdLst/>
            <a:ahLst/>
            <a:cxnLst/>
            <a:rect l="l" t="t" r="r" b="b"/>
            <a:pathLst>
              <a:path w="3938588" h="4599556">
                <a:moveTo>
                  <a:pt x="0" y="0"/>
                </a:moveTo>
                <a:lnTo>
                  <a:pt x="3938587" y="0"/>
                </a:lnTo>
                <a:lnTo>
                  <a:pt x="3938587" y="4599556"/>
                </a:lnTo>
                <a:lnTo>
                  <a:pt x="0" y="4599556"/>
                </a:lnTo>
                <a:lnTo>
                  <a:pt x="0" y="0"/>
                </a:lnTo>
                <a:close/>
              </a:path>
            </a:pathLst>
          </a:custGeom>
          <a:blipFill>
            <a:blip>
              <a:extLst>
                <a:ext uri="{96DAC541-7B7A-43D3-8B79-37D633B846F1}">
                  <asvg:svgBlip xmlns:asvg="http://schemas.microsoft.com/office/drawing/2016/SVG/main" r:embed="rId3"/>
                </a:ext>
              </a:extLst>
            </a:blip>
            <a:stretch>
              <a:fillRect t="-54" b="-54"/>
            </a:stretch>
          </a:blipFill>
        </p:spPr>
        <p:txBody>
          <a:bodyPr/>
          <a:lstStyle/>
          <a:p>
            <a:endParaRPr lang="en-US"/>
          </a:p>
        </p:txBody>
      </p:sp>
      <p:grpSp>
        <p:nvGrpSpPr>
          <p:cNvPr id="26" name="Group 26"/>
          <p:cNvGrpSpPr/>
          <p:nvPr/>
        </p:nvGrpSpPr>
        <p:grpSpPr>
          <a:xfrm>
            <a:off x="15201262" y="2196189"/>
            <a:ext cx="276587" cy="345700"/>
            <a:chOff x="0" y="0"/>
            <a:chExt cx="368783" cy="460934"/>
          </a:xfrm>
        </p:grpSpPr>
        <p:sp>
          <p:nvSpPr>
            <p:cNvPr id="27" name="Freeform 27"/>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txBody>
            <a:bodyPr/>
            <a:lstStyle/>
            <a:p>
              <a:endParaRPr lang="en-US"/>
            </a:p>
          </p:txBody>
        </p:sp>
        <p:sp>
          <p:nvSpPr>
            <p:cNvPr id="28" name="TextBox 28"/>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4</a:t>
              </a:r>
            </a:p>
          </p:txBody>
        </p:sp>
      </p:grpSp>
      <p:sp>
        <p:nvSpPr>
          <p:cNvPr id="29" name="TextBox 29"/>
          <p:cNvSpPr txBox="1"/>
          <p:nvPr/>
        </p:nvSpPr>
        <p:spPr>
          <a:xfrm>
            <a:off x="13629275" y="2926175"/>
            <a:ext cx="3420570" cy="811435"/>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4 — Evaluation &amp; Explainability</a:t>
            </a:r>
          </a:p>
        </p:txBody>
      </p:sp>
      <p:sp>
        <p:nvSpPr>
          <p:cNvPr id="30" name="TextBox 30"/>
          <p:cNvSpPr txBox="1"/>
          <p:nvPr/>
        </p:nvSpPr>
        <p:spPr>
          <a:xfrm>
            <a:off x="13629275" y="3802294"/>
            <a:ext cx="3420570" cy="2499551"/>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Evaluate generalization, calibrate thresholds, and explain predictions.</a:t>
            </a:r>
          </a:p>
          <a:p>
            <a:pPr algn="l">
              <a:lnSpc>
                <a:spcPts val="2615"/>
              </a:lnSpc>
            </a:pPr>
            <a:r>
              <a:rPr lang="en-US" sz="1801" spc="-36">
                <a:solidFill>
                  <a:srgbClr val="272525"/>
                </a:solidFill>
                <a:latin typeface="Inter"/>
                <a:ea typeface="Inter"/>
                <a:cs typeface="Inter"/>
                <a:sym typeface="Inter"/>
              </a:rPr>
              <a:t>Outcome: Confusion matrices, ROC‑AUC, SHAP explanations, and decision thresholds.</a:t>
            </a:r>
          </a:p>
        </p:txBody>
      </p:sp>
      <p:sp>
        <p:nvSpPr>
          <p:cNvPr id="31" name="Freeform 31" descr="preencoded.png"/>
          <p:cNvSpPr/>
          <p:nvPr/>
        </p:nvSpPr>
        <p:spPr>
          <a:xfrm>
            <a:off x="992991" y="6810042"/>
            <a:ext cx="16315868" cy="2470242"/>
          </a:xfrm>
          <a:custGeom>
            <a:avLst/>
            <a:gdLst/>
            <a:ahLst/>
            <a:cxnLst/>
            <a:rect l="l" t="t" r="r" b="b"/>
            <a:pathLst>
              <a:path w="16315868" h="2470242">
                <a:moveTo>
                  <a:pt x="0" y="0"/>
                </a:moveTo>
                <a:lnTo>
                  <a:pt x="16315868" y="0"/>
                </a:lnTo>
                <a:lnTo>
                  <a:pt x="16315868" y="2470242"/>
                </a:lnTo>
                <a:lnTo>
                  <a:pt x="0" y="2470242"/>
                </a:lnTo>
                <a:lnTo>
                  <a:pt x="0" y="0"/>
                </a:lnTo>
                <a:close/>
              </a:path>
            </a:pathLst>
          </a:custGeom>
          <a:blipFill>
            <a:blip>
              <a:extLst>
                <a:ext uri="{96DAC541-7B7A-43D3-8B79-37D633B846F1}">
                  <asvg:svgBlip xmlns:asvg="http://schemas.microsoft.com/office/drawing/2016/SVG/main" r:embed="rId5"/>
                </a:ext>
              </a:extLst>
            </a:blip>
            <a:stretch>
              <a:fillRect t="-318" b="-318"/>
            </a:stretch>
          </a:blipFill>
        </p:spPr>
        <p:txBody>
          <a:bodyPr/>
          <a:lstStyle/>
          <a:p>
            <a:endParaRPr lang="en-US"/>
          </a:p>
        </p:txBody>
      </p:sp>
      <p:grpSp>
        <p:nvGrpSpPr>
          <p:cNvPr id="32" name="Group 32"/>
          <p:cNvGrpSpPr/>
          <p:nvPr/>
        </p:nvGrpSpPr>
        <p:grpSpPr>
          <a:xfrm>
            <a:off x="9012631" y="6982968"/>
            <a:ext cx="276587" cy="345700"/>
            <a:chOff x="0" y="0"/>
            <a:chExt cx="368783" cy="460934"/>
          </a:xfrm>
        </p:grpSpPr>
        <p:sp>
          <p:nvSpPr>
            <p:cNvPr id="33" name="Freeform 33"/>
            <p:cNvSpPr/>
            <p:nvPr/>
          </p:nvSpPr>
          <p:spPr>
            <a:xfrm>
              <a:off x="0" y="0"/>
              <a:ext cx="368778" cy="460934"/>
            </a:xfrm>
            <a:custGeom>
              <a:avLst/>
              <a:gdLst/>
              <a:ahLst/>
              <a:cxnLst/>
              <a:rect l="l" t="t" r="r" b="b"/>
              <a:pathLst>
                <a:path w="368778" h="460934">
                  <a:moveTo>
                    <a:pt x="0" y="0"/>
                  </a:moveTo>
                  <a:lnTo>
                    <a:pt x="368778" y="0"/>
                  </a:lnTo>
                  <a:lnTo>
                    <a:pt x="368778" y="460934"/>
                  </a:lnTo>
                  <a:lnTo>
                    <a:pt x="0" y="460934"/>
                  </a:lnTo>
                  <a:close/>
                </a:path>
              </a:pathLst>
            </a:custGeom>
            <a:blipFill>
              <a:blip r:embed="rId4">
                <a:alphaModFix amt="0"/>
              </a:blip>
              <a:stretch>
                <a:fillRect l="-110365" r="-110366"/>
              </a:stretch>
            </a:blipFill>
          </p:spPr>
          <p:txBody>
            <a:bodyPr/>
            <a:lstStyle/>
            <a:p>
              <a:endParaRPr lang="en-US"/>
            </a:p>
          </p:txBody>
        </p:sp>
        <p:sp>
          <p:nvSpPr>
            <p:cNvPr id="34" name="TextBox 34"/>
            <p:cNvSpPr txBox="1"/>
            <p:nvPr/>
          </p:nvSpPr>
          <p:spPr>
            <a:xfrm>
              <a:off x="0" y="-19050"/>
              <a:ext cx="368783" cy="479984"/>
            </a:xfrm>
            <a:prstGeom prst="rect">
              <a:avLst/>
            </a:prstGeom>
          </p:spPr>
          <p:txBody>
            <a:bodyPr lIns="0" tIns="0" rIns="0" bIns="0" rtlCol="0" anchor="ctr"/>
            <a:lstStyle/>
            <a:p>
              <a:pPr algn="ctr">
                <a:lnSpc>
                  <a:spcPts val="2612"/>
                </a:lnSpc>
              </a:pPr>
              <a:r>
                <a:rPr lang="en-US" sz="2176" b="1" spc="-36">
                  <a:solidFill>
                    <a:srgbClr val="FFFFFF"/>
                  </a:solidFill>
                  <a:latin typeface="Petrona Bold"/>
                  <a:ea typeface="Petrona Bold"/>
                  <a:cs typeface="Petrona Bold"/>
                  <a:sym typeface="Petrona Bold"/>
                </a:rPr>
                <a:t>5</a:t>
              </a:r>
            </a:p>
          </p:txBody>
        </p:sp>
      </p:grpSp>
      <p:sp>
        <p:nvSpPr>
          <p:cNvPr id="35" name="TextBox 35"/>
          <p:cNvSpPr txBox="1"/>
          <p:nvPr/>
        </p:nvSpPr>
        <p:spPr>
          <a:xfrm>
            <a:off x="1251995" y="7712954"/>
            <a:ext cx="15797851" cy="415242"/>
          </a:xfrm>
          <a:prstGeom prst="rect">
            <a:avLst/>
          </a:prstGeom>
        </p:spPr>
        <p:txBody>
          <a:bodyPr lIns="0" tIns="0" rIns="0" bIns="0" rtlCol="0" anchor="t">
            <a:spAutoFit/>
          </a:bodyPr>
          <a:lstStyle/>
          <a:p>
            <a:pPr algn="l">
              <a:lnSpc>
                <a:spcPts val="3091"/>
              </a:lnSpc>
            </a:pPr>
            <a:r>
              <a:rPr lang="en-US" sz="2476" b="1" spc="-49">
                <a:solidFill>
                  <a:srgbClr val="272525"/>
                </a:solidFill>
                <a:latin typeface="Petrona Bold"/>
                <a:ea typeface="Petrona Bold"/>
                <a:cs typeface="Petrona Bold"/>
                <a:sym typeface="Petrona Bold"/>
              </a:rPr>
              <a:t>Module 5 — Prototype &amp; Reporting</a:t>
            </a:r>
          </a:p>
        </p:txBody>
      </p:sp>
      <p:sp>
        <p:nvSpPr>
          <p:cNvPr id="36" name="TextBox 36"/>
          <p:cNvSpPr txBox="1"/>
          <p:nvPr/>
        </p:nvSpPr>
        <p:spPr>
          <a:xfrm>
            <a:off x="1251995" y="8192881"/>
            <a:ext cx="15797851" cy="828389"/>
          </a:xfrm>
          <a:prstGeom prst="rect">
            <a:avLst/>
          </a:prstGeom>
        </p:spPr>
        <p:txBody>
          <a:bodyPr lIns="0" tIns="0" rIns="0" bIns="0" rtlCol="0" anchor="t">
            <a:spAutoFit/>
          </a:bodyPr>
          <a:lstStyle/>
          <a:p>
            <a:pPr algn="l">
              <a:lnSpc>
                <a:spcPts val="2615"/>
              </a:lnSpc>
            </a:pPr>
            <a:r>
              <a:rPr lang="en-US" sz="1801" spc="-36">
                <a:solidFill>
                  <a:srgbClr val="272525"/>
                </a:solidFill>
                <a:latin typeface="Inter"/>
                <a:ea typeface="Inter"/>
                <a:cs typeface="Inter"/>
                <a:sym typeface="Inter"/>
              </a:rPr>
              <a:t>Objective: Build a simple scoring API and prepare final report with signature block.</a:t>
            </a:r>
          </a:p>
          <a:p>
            <a:pPr algn="l">
              <a:lnSpc>
                <a:spcPts val="2615"/>
              </a:lnSpc>
            </a:pPr>
            <a:r>
              <a:rPr lang="en-US" sz="1801" spc="-36">
                <a:solidFill>
                  <a:srgbClr val="272525"/>
                </a:solidFill>
                <a:latin typeface="Inter"/>
                <a:ea typeface="Inter"/>
                <a:cs typeface="Inter"/>
                <a:sym typeface="Inter"/>
              </a:rPr>
              <a:t>Outcome: Prototype app (Flask/Streamlit), documentation, and signed project report.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12700" y="-20701"/>
            <a:ext cx="18301811" cy="10295001"/>
            <a:chOff x="52320" y="33917"/>
            <a:chExt cx="24402414" cy="13726668"/>
          </a:xfrm>
        </p:grpSpPr>
        <p:sp>
          <p:nvSpPr>
            <p:cNvPr id="5" name="Freeform 5"/>
            <p:cNvSpPr/>
            <p:nvPr/>
          </p:nvSpPr>
          <p:spPr>
            <a:xfrm>
              <a:off x="52320" y="33917"/>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grpSp>
        <p:nvGrpSpPr>
          <p:cNvPr id="6" name="Group 6"/>
          <p:cNvGrpSpPr/>
          <p:nvPr/>
        </p:nvGrpSpPr>
        <p:grpSpPr>
          <a:xfrm>
            <a:off x="992991" y="3175054"/>
            <a:ext cx="6961346" cy="3944798"/>
            <a:chOff x="0" y="0"/>
            <a:chExt cx="9281795" cy="5259730"/>
          </a:xfrm>
        </p:grpSpPr>
        <p:sp>
          <p:nvSpPr>
            <p:cNvPr id="7" name="Freeform 7" descr="preencoded.png"/>
            <p:cNvSpPr/>
            <p:nvPr/>
          </p:nvSpPr>
          <p:spPr>
            <a:xfrm>
              <a:off x="0" y="0"/>
              <a:ext cx="9281795" cy="5259705"/>
            </a:xfrm>
            <a:custGeom>
              <a:avLst/>
              <a:gdLst/>
              <a:ahLst/>
              <a:cxnLst/>
              <a:rect l="l" t="t" r="r" b="b"/>
              <a:pathLst>
                <a:path w="9281795" h="5259705">
                  <a:moveTo>
                    <a:pt x="0" y="0"/>
                  </a:moveTo>
                  <a:lnTo>
                    <a:pt x="9281795" y="0"/>
                  </a:lnTo>
                  <a:lnTo>
                    <a:pt x="9281795" y="5259705"/>
                  </a:lnTo>
                  <a:lnTo>
                    <a:pt x="0" y="5259705"/>
                  </a:lnTo>
                  <a:lnTo>
                    <a:pt x="0" y="0"/>
                  </a:lnTo>
                  <a:close/>
                </a:path>
              </a:pathLst>
            </a:custGeom>
            <a:blipFill>
              <a:blip r:embed="rId3"/>
              <a:stretch>
                <a:fillRect l="-28" r="-28"/>
              </a:stretch>
            </a:blipFill>
          </p:spPr>
          <p:txBody>
            <a:bodyPr/>
            <a:lstStyle/>
            <a:p>
              <a:endParaRPr lang="en-US"/>
            </a:p>
          </p:txBody>
        </p:sp>
      </p:grpSp>
      <p:sp>
        <p:nvSpPr>
          <p:cNvPr id="8" name="TextBox 8"/>
          <p:cNvSpPr txBox="1"/>
          <p:nvPr/>
        </p:nvSpPr>
        <p:spPr>
          <a:xfrm>
            <a:off x="8656139" y="1764125"/>
            <a:ext cx="8662102" cy="766364"/>
          </a:xfrm>
          <a:prstGeom prst="rect">
            <a:avLst/>
          </a:prstGeom>
        </p:spPr>
        <p:txBody>
          <a:bodyPr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Research papers </a:t>
            </a:r>
          </a:p>
        </p:txBody>
      </p:sp>
      <p:sp>
        <p:nvSpPr>
          <p:cNvPr id="9" name="TextBox 9"/>
          <p:cNvSpPr txBox="1"/>
          <p:nvPr/>
        </p:nvSpPr>
        <p:spPr>
          <a:xfrm>
            <a:off x="8656139" y="3560578"/>
            <a:ext cx="8662102" cy="1749903"/>
          </a:xfrm>
          <a:prstGeom prst="rect">
            <a:avLst/>
          </a:prstGeom>
        </p:spPr>
        <p:txBody>
          <a:bodyPr lIns="0" tIns="0" rIns="0" bIns="0" rtlCol="0" anchor="t">
            <a:spAutoFit/>
          </a:bodyPr>
          <a:lstStyle/>
          <a:p>
            <a:pPr marL="394236" lvl="1" indent="-197118">
              <a:lnSpc>
                <a:spcPts val="3474"/>
              </a:lnSpc>
              <a:buFont typeface="Arial"/>
              <a:buChar char="•"/>
            </a:pPr>
            <a:r>
              <a:rPr lang="en-US" sz="2176" spc="-45" dirty="0">
                <a:solidFill>
                  <a:srgbClr val="272525"/>
                </a:solidFill>
                <a:latin typeface="Inter"/>
                <a:ea typeface="Inter"/>
                <a:cs typeface="Inter"/>
                <a:sym typeface="Inter"/>
                <a:hlinkClick r:id="rId4" action="ppaction://hlinkfile"/>
              </a:rPr>
              <a:t>file:///C:/Users/thanv/Downloads/qiu2019.pdf</a:t>
            </a:r>
            <a:endParaRPr lang="en-US" sz="2176" spc="-45" dirty="0">
              <a:solidFill>
                <a:srgbClr val="272525"/>
              </a:solidFill>
              <a:latin typeface="Inter"/>
              <a:ea typeface="Inter"/>
              <a:cs typeface="Inter"/>
              <a:sym typeface="Inter"/>
            </a:endParaRPr>
          </a:p>
          <a:p>
            <a:pPr marL="394236" lvl="1" indent="-197118">
              <a:lnSpc>
                <a:spcPts val="3474"/>
              </a:lnSpc>
              <a:buFont typeface="Arial"/>
              <a:buChar char="•"/>
            </a:pPr>
            <a:r>
              <a:rPr lang="en-US" sz="2176" spc="-45" dirty="0">
                <a:solidFill>
                  <a:srgbClr val="272525"/>
                </a:solidFill>
                <a:latin typeface="Inter"/>
                <a:ea typeface="Inter"/>
                <a:cs typeface="Inter"/>
                <a:sym typeface="Inter"/>
                <a:hlinkClick r:id="rId5" action="ppaction://hlinkfile"/>
              </a:rPr>
              <a:t>file:///C:/Users/thanv/Downloads/shaheen2018.pdf</a:t>
            </a:r>
            <a:endParaRPr lang="en-US" sz="2176" spc="-45" dirty="0">
              <a:solidFill>
                <a:srgbClr val="272525"/>
              </a:solidFill>
              <a:latin typeface="Inter"/>
              <a:ea typeface="Inter"/>
              <a:cs typeface="Inter"/>
              <a:sym typeface="Inter"/>
            </a:endParaRPr>
          </a:p>
          <a:p>
            <a:pPr marL="394236" lvl="1" indent="-197118">
              <a:lnSpc>
                <a:spcPts val="3474"/>
              </a:lnSpc>
              <a:buFont typeface="Arial"/>
              <a:buChar char="•"/>
            </a:pPr>
            <a:endParaRPr lang="en-US" sz="2176" spc="-45" dirty="0">
              <a:solidFill>
                <a:srgbClr val="272525"/>
              </a:solidFill>
              <a:latin typeface="Inter"/>
              <a:ea typeface="Inter"/>
              <a:cs typeface="Inter"/>
              <a:sym typeface="Inter"/>
            </a:endParaRPr>
          </a:p>
          <a:p>
            <a:pPr algn="l">
              <a:lnSpc>
                <a:spcPts val="3474"/>
              </a:lnSpc>
            </a:pPr>
            <a:endParaRPr lang="en-US" sz="2176" spc="-45" dirty="0">
              <a:solidFill>
                <a:srgbClr val="272525"/>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1840" cy="10295039"/>
            <a:chOff x="0" y="0"/>
            <a:chExt cx="24402453" cy="13726719"/>
          </a:xfrm>
        </p:grpSpPr>
        <p:sp>
          <p:nvSpPr>
            <p:cNvPr id="3" name="Freeform 3"/>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AF2E9"/>
            </a:solidFill>
          </p:spPr>
          <p:txBody>
            <a:bodyPr/>
            <a:lstStyle/>
            <a:p>
              <a:endParaRPr lang="en-US"/>
            </a:p>
          </p:txBody>
        </p:sp>
      </p:grpSp>
      <p:grpSp>
        <p:nvGrpSpPr>
          <p:cNvPr id="4" name="Group 4"/>
          <p:cNvGrpSpPr/>
          <p:nvPr/>
        </p:nvGrpSpPr>
        <p:grpSpPr>
          <a:xfrm>
            <a:off x="-13840" y="-8039"/>
            <a:ext cx="18301840" cy="10295039"/>
            <a:chOff x="0" y="0"/>
            <a:chExt cx="24402453" cy="13726719"/>
          </a:xfrm>
        </p:grpSpPr>
        <p:sp>
          <p:nvSpPr>
            <p:cNvPr id="5" name="Freeform 5"/>
            <p:cNvSpPr/>
            <p:nvPr/>
          </p:nvSpPr>
          <p:spPr>
            <a:xfrm>
              <a:off x="0" y="0"/>
              <a:ext cx="24402414" cy="13726668"/>
            </a:xfrm>
            <a:custGeom>
              <a:avLst/>
              <a:gdLst/>
              <a:ahLst/>
              <a:cxnLst/>
              <a:rect l="l" t="t" r="r" b="b"/>
              <a:pathLst>
                <a:path w="24402414" h="13726668">
                  <a:moveTo>
                    <a:pt x="0" y="0"/>
                  </a:moveTo>
                  <a:lnTo>
                    <a:pt x="24402414" y="0"/>
                  </a:lnTo>
                  <a:lnTo>
                    <a:pt x="24402414" y="13726668"/>
                  </a:lnTo>
                  <a:lnTo>
                    <a:pt x="0" y="13726668"/>
                  </a:lnTo>
                  <a:close/>
                </a:path>
              </a:pathLst>
            </a:custGeom>
            <a:solidFill>
              <a:srgbClr val="FDFAF7"/>
            </a:solidFill>
          </p:spPr>
          <p:txBody>
            <a:bodyPr/>
            <a:lstStyle/>
            <a:p>
              <a:endParaRPr lang="en-US"/>
            </a:p>
          </p:txBody>
        </p:sp>
      </p:grpSp>
      <p:sp>
        <p:nvSpPr>
          <p:cNvPr id="6" name="TextBox 6"/>
          <p:cNvSpPr txBox="1"/>
          <p:nvPr/>
        </p:nvSpPr>
        <p:spPr>
          <a:xfrm>
            <a:off x="2057400" y="1104443"/>
            <a:ext cx="15260841" cy="766364"/>
          </a:xfrm>
          <a:prstGeom prst="rect">
            <a:avLst/>
          </a:prstGeom>
        </p:spPr>
        <p:txBody>
          <a:bodyPr wrap="square" lIns="0" tIns="0" rIns="0" bIns="0" rtlCol="0" anchor="t">
            <a:spAutoFit/>
          </a:bodyPr>
          <a:lstStyle/>
          <a:p>
            <a:pPr algn="l">
              <a:lnSpc>
                <a:spcPts val="6088"/>
              </a:lnSpc>
            </a:pPr>
            <a:r>
              <a:rPr lang="en-US" sz="4878" b="1" spc="-97" dirty="0">
                <a:solidFill>
                  <a:srgbClr val="F95F88"/>
                </a:solidFill>
                <a:latin typeface="Petrona Bold"/>
                <a:ea typeface="Petrona Bold"/>
                <a:cs typeface="Petrona Bold"/>
                <a:sym typeface="Petrona Bold"/>
              </a:rPr>
              <a:t>Conclusions, Limitations &amp; Next Steps</a:t>
            </a:r>
          </a:p>
        </p:txBody>
      </p:sp>
      <p:sp>
        <p:nvSpPr>
          <p:cNvPr id="7" name="TextBox 7"/>
          <p:cNvSpPr txBox="1"/>
          <p:nvPr/>
        </p:nvSpPr>
        <p:spPr>
          <a:xfrm>
            <a:off x="2286000" y="2120732"/>
            <a:ext cx="15032241" cy="5340629"/>
          </a:xfrm>
          <a:prstGeom prst="rect">
            <a:avLst/>
          </a:prstGeom>
        </p:spPr>
        <p:txBody>
          <a:bodyPr wrap="square" lIns="0" tIns="0" rIns="0" bIns="0" rtlCol="0" anchor="t">
            <a:spAutoFit/>
          </a:bodyPr>
          <a:lstStyle/>
          <a:p>
            <a:pPr>
              <a:lnSpc>
                <a:spcPts val="3474"/>
              </a:lnSpc>
            </a:pPr>
            <a:r>
              <a:rPr lang="en-US" sz="2176" spc="-45" dirty="0">
                <a:solidFill>
                  <a:srgbClr val="272525"/>
                </a:solidFill>
                <a:latin typeface="Inter"/>
                <a:ea typeface="Inter"/>
                <a:cs typeface="Inter"/>
                <a:sym typeface="Inter"/>
              </a:rPr>
              <a:t>Ensemble tree models (especially gradient boosting) reliably identify high‑risk borrowers when paired with careful preprocessing and explainability tools.</a:t>
            </a:r>
          </a:p>
          <a:p>
            <a:pPr>
              <a:lnSpc>
                <a:spcPts val="3474"/>
              </a:lnSpc>
            </a:pPr>
            <a:r>
              <a:rPr lang="en-US" sz="2176" spc="-45" dirty="0">
                <a:solidFill>
                  <a:srgbClr val="272525"/>
                </a:solidFill>
                <a:latin typeface="Inter"/>
                <a:ea typeface="Inter"/>
                <a:cs typeface="Inter"/>
                <a:sym typeface="Inter"/>
              </a:rPr>
              <a:t>The approach supports safer lending decisions and risk mitigation.</a:t>
            </a:r>
          </a:p>
          <a:p>
            <a:pPr>
              <a:lnSpc>
                <a:spcPts val="3474"/>
              </a:lnSpc>
            </a:pPr>
            <a:endParaRPr lang="en-US" sz="2176" b="1" spc="-45" dirty="0">
              <a:solidFill>
                <a:srgbClr val="272525"/>
              </a:solidFill>
              <a:latin typeface="Inter"/>
              <a:ea typeface="Inter"/>
              <a:cs typeface="Inter"/>
              <a:sym typeface="Inter"/>
            </a:endParaRPr>
          </a:p>
          <a:p>
            <a:pPr>
              <a:lnSpc>
                <a:spcPts val="3474"/>
              </a:lnSpc>
            </a:pPr>
            <a:endParaRPr lang="en-US" sz="2176" b="1" spc="-45" dirty="0">
              <a:solidFill>
                <a:srgbClr val="272525"/>
              </a:solidFill>
              <a:latin typeface="Inter"/>
              <a:ea typeface="Inter"/>
              <a:cs typeface="Inter"/>
              <a:sym typeface="Inter"/>
            </a:endParaRPr>
          </a:p>
          <a:p>
            <a:pPr>
              <a:lnSpc>
                <a:spcPts val="3474"/>
              </a:lnSpc>
            </a:pPr>
            <a:r>
              <a:rPr lang="en-US" sz="2176" b="1" spc="-45" dirty="0">
                <a:solidFill>
                  <a:srgbClr val="272525"/>
                </a:solidFill>
                <a:latin typeface="Inter"/>
                <a:ea typeface="Inter"/>
                <a:cs typeface="Inter"/>
                <a:sym typeface="Inter"/>
              </a:rPr>
              <a:t>Limitations:</a:t>
            </a:r>
          </a:p>
          <a:p>
            <a:pPr>
              <a:lnSpc>
                <a:spcPts val="3474"/>
              </a:lnSpc>
            </a:pPr>
            <a:r>
              <a:rPr lang="en-US" sz="2176" spc="-45" dirty="0">
                <a:solidFill>
                  <a:srgbClr val="272525"/>
                </a:solidFill>
                <a:latin typeface="Inter"/>
                <a:ea typeface="Inter"/>
                <a:cs typeface="Inter"/>
                <a:sym typeface="Inter"/>
              </a:rPr>
              <a:t> Model performance depends on data quality and representativeness. Potential biases (e.g., socio‑economic proxies) must be analyzed and mitigated to meet fairness and regulatory requirements.</a:t>
            </a:r>
          </a:p>
          <a:p>
            <a:pPr marL="394236" lvl="1" indent="-197118">
              <a:lnSpc>
                <a:spcPts val="3474"/>
              </a:lnSpc>
              <a:buAutoNum type="arabicPeriod"/>
            </a:pPr>
            <a:r>
              <a:rPr lang="en-US" sz="2176" spc="-45" dirty="0">
                <a:solidFill>
                  <a:srgbClr val="272525"/>
                </a:solidFill>
                <a:latin typeface="Inter"/>
                <a:ea typeface="Inter"/>
                <a:cs typeface="Inter"/>
                <a:sym typeface="Inter"/>
              </a:rPr>
              <a:t>Conduct fairness audits and bias mitigation (adversarial debiasing, reweighing).</a:t>
            </a:r>
          </a:p>
          <a:p>
            <a:pPr marL="394236" lvl="1" indent="-197118">
              <a:lnSpc>
                <a:spcPts val="3474"/>
              </a:lnSpc>
              <a:buAutoNum type="arabicPeriod"/>
            </a:pPr>
            <a:r>
              <a:rPr lang="en-US" sz="2176" spc="-45" dirty="0">
                <a:solidFill>
                  <a:srgbClr val="272525"/>
                </a:solidFill>
                <a:latin typeface="Inter"/>
                <a:ea typeface="Inter"/>
                <a:cs typeface="Inter"/>
                <a:sym typeface="Inter"/>
              </a:rPr>
              <a:t>Integrate cost‑sensitive learning to align predictions with financial impact.</a:t>
            </a:r>
          </a:p>
          <a:p>
            <a:pPr marL="394236" lvl="1" indent="-197118">
              <a:lnSpc>
                <a:spcPts val="3474"/>
              </a:lnSpc>
              <a:buAutoNum type="arabicPeriod"/>
            </a:pPr>
            <a:r>
              <a:rPr lang="en-US" sz="2176" spc="-45" dirty="0">
                <a:solidFill>
                  <a:srgbClr val="272525"/>
                </a:solidFill>
                <a:latin typeface="Inter"/>
                <a:ea typeface="Inter"/>
                <a:cs typeface="Inter"/>
                <a:sym typeface="Inter"/>
              </a:rPr>
              <a:t>Deploy an explainable scoring service with human‑in‑the‑loop review for flagged cases.</a:t>
            </a:r>
          </a:p>
          <a:p>
            <a:pPr>
              <a:lnSpc>
                <a:spcPts val="3474"/>
              </a:lnSpc>
            </a:pPr>
            <a:endParaRPr lang="en-US" sz="2176" spc="-45" dirty="0">
              <a:solidFill>
                <a:srgbClr val="272525"/>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TotalTime>
  <Words>917</Words>
  <Application>Microsoft Office PowerPoint</Application>
  <PresentationFormat>Custom</PresentationFormat>
  <Paragraphs>112</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Petrona Bold</vt:lpstr>
      <vt:lpstr>Inter Bold</vt:lpstr>
      <vt:lpstr>Arial</vt:lpstr>
      <vt:lpstr>Inter</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Loan-Default-Prediction-Using-Random-Forest-and-GradientBoosted-Trees.pptx</dc:title>
  <dc:creator>Rishitha K</dc:creator>
  <cp:lastModifiedBy>Kommalapati Rishitha Chowdary</cp:lastModifiedBy>
  <cp:revision>5</cp:revision>
  <dcterms:created xsi:type="dcterms:W3CDTF">2006-08-16T00:00:00Z</dcterms:created>
  <dcterms:modified xsi:type="dcterms:W3CDTF">2026-09-24T06:26:47Z</dcterms:modified>
  <dc:identifier>DAHTjZ_oxFw</dc:identifier>
</cp:coreProperties>
</file>